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  <p:sldId id="312" r:id="rId3"/>
    <p:sldId id="309" r:id="rId4"/>
    <p:sldId id="349" r:id="rId5"/>
    <p:sldId id="350" r:id="rId6"/>
    <p:sldId id="351" r:id="rId7"/>
    <p:sldId id="352" r:id="rId8"/>
    <p:sldId id="353" r:id="rId9"/>
    <p:sldId id="354" r:id="rId10"/>
    <p:sldId id="355" r:id="rId11"/>
    <p:sldId id="356" r:id="rId12"/>
    <p:sldId id="343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C5B05954-ADE9-F8D2-1402-05D4228D5BA5}"/>
              </a:ext>
            </a:extLst>
          </p:cNvPr>
          <p:cNvSpPr/>
          <p:nvPr userDrawn="1"/>
        </p:nvSpPr>
        <p:spPr>
          <a:xfrm>
            <a:off x="6308567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57701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2F2CC53-9CF8-8C15-2005-CBAF4DD74E40}"/>
              </a:ext>
            </a:extLst>
          </p:cNvPr>
          <p:cNvSpPr/>
          <p:nvPr userDrawn="1"/>
        </p:nvSpPr>
        <p:spPr>
          <a:xfrm>
            <a:off x="11149965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15" name="Текст 49">
            <a:extLst>
              <a:ext uri="{FF2B5EF4-FFF2-40B4-BE49-F238E27FC236}">
                <a16:creationId xmlns:a16="http://schemas.microsoft.com/office/drawing/2014/main" id="{3C098731-4900-EEAE-A0DE-7E1FA6D1EB6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557701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AE58351-2F18-2F8E-D3C4-7B2FAC9DB44B}"/>
              </a:ext>
            </a:extLst>
          </p:cNvPr>
          <p:cNvSpPr/>
          <p:nvPr userDrawn="1"/>
        </p:nvSpPr>
        <p:spPr>
          <a:xfrm>
            <a:off x="381561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36" name="Текст 49">
            <a:extLst>
              <a:ext uri="{FF2B5EF4-FFF2-40B4-BE49-F238E27FC236}">
                <a16:creationId xmlns:a16="http://schemas.microsoft.com/office/drawing/2014/main" id="{29BEC1B6-2A87-9C1E-11E1-B024A88DC4AF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30695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F8C1A5A9-18AC-47F2-B9FF-458324400456}"/>
              </a:ext>
            </a:extLst>
          </p:cNvPr>
          <p:cNvSpPr/>
          <p:nvPr userDrawn="1"/>
        </p:nvSpPr>
        <p:spPr>
          <a:xfrm>
            <a:off x="5222959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0" name="Текст 49">
            <a:extLst>
              <a:ext uri="{FF2B5EF4-FFF2-40B4-BE49-F238E27FC236}">
                <a16:creationId xmlns:a16="http://schemas.microsoft.com/office/drawing/2014/main" id="{09EDF421-4786-F27F-D421-4F6F76E3D7F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30695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24377A-3A62-E490-EA1E-ABDEAA77012D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79E22D-0B37-D7E0-4324-60CA7A969605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B5FC86D-82C4-7452-6AEE-B6009692D4F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150283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sp>
        <p:nvSpPr>
          <p:cNvPr id="6" name="Рисунок 4">
            <a:extLst>
              <a:ext uri="{FF2B5EF4-FFF2-40B4-BE49-F238E27FC236}">
                <a16:creationId xmlns:a16="http://schemas.microsoft.com/office/drawing/2014/main" id="{C5558111-5D92-CBC2-140A-A52A7C89FF4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12062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B706BABA-D911-0475-C385-C5E80501CF18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048ABD2A-F0AE-506F-BAD8-1B97F314D56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9A422709-24F0-78EA-337F-28F2C9E7C04F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34398F6A-F4A3-AA13-BD57-C1C8EB129644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9EA2CF7-E426-6FA4-1586-2DA7D0B2C2AE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9C5A4B-0A59-C72C-6B13-40B77DDFE6CE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05F6695F-4435-AC1F-EDFD-37951B12BD21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8BC434FB-16BA-9077-D2B0-AE75E731B43E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52FDA3D7-0F1D-0F9E-FA83-0B30310C1F90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8027AB9B-F1F7-ABDD-3BD7-D7F59809FD97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A184EB10-7F97-7A9E-B27B-254F1C42DFA2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18AED02-3F30-8086-D3FE-F4B5FA1B87FE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53DE7102-3EE6-3BF1-617F-C94638783E8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7" name="Текст 47">
            <a:extLst>
              <a:ext uri="{FF2B5EF4-FFF2-40B4-BE49-F238E27FC236}">
                <a16:creationId xmlns:a16="http://schemas.microsoft.com/office/drawing/2014/main" id="{029659CF-2E80-2A2F-6532-5B5D4E2188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8" name="Текст 49">
            <a:extLst>
              <a:ext uri="{FF2B5EF4-FFF2-40B4-BE49-F238E27FC236}">
                <a16:creationId xmlns:a16="http://schemas.microsoft.com/office/drawing/2014/main" id="{35B448D5-CA83-7334-D9E8-31596C010B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415544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7550" y="3448718"/>
            <a:ext cx="4361039" cy="22254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lvl="0"/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17" name="Текст 49">
            <a:extLst>
              <a:ext uri="{FF2B5EF4-FFF2-40B4-BE49-F238E27FC236}">
                <a16:creationId xmlns:a16="http://schemas.microsoft.com/office/drawing/2014/main" id="{5571E40E-E04B-FA9F-068F-44BCFEB229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4083" y="3448718"/>
            <a:ext cx="4361039" cy="2225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A037DA-9FAF-515A-92C7-E19877702939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A05145-B248-C94C-DC68-7B12E4D5D5ED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513118D-C903-A2FB-4AA2-92B99E8034A5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E26FE57E-5F3A-70FD-024C-5D5363954F8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203755BE-9D0C-5152-C51C-292980F48F8D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B02685DE-BDA2-A180-AAC2-6A6336D91829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3B440F1A-2B1A-0363-DE61-8411E5061A02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FDE4094F-F928-F071-8EDE-5D61EE96D59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20549A1D-AFEA-BFB4-CBEF-DA44D0E3CF1E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DA97E0D-A6F3-4ED7-6F4A-D4835EC2550A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03F2F32-0455-BFBD-5B52-6B8136951CE7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04CF4E74-47F0-5D04-6365-C78E6667D4C0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38266A2-C1C1-F2A0-0C99-88B218EC144E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2F14325-A2F1-946E-4889-E1B6174A17A2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6" name="Текст 47">
            <a:extLst>
              <a:ext uri="{FF2B5EF4-FFF2-40B4-BE49-F238E27FC236}">
                <a16:creationId xmlns:a16="http://schemas.microsoft.com/office/drawing/2014/main" id="{D7B98EE6-1D14-A7E1-223F-07278DB232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18" name="Текст 49">
            <a:extLst>
              <a:ext uri="{FF2B5EF4-FFF2-40B4-BE49-F238E27FC236}">
                <a16:creationId xmlns:a16="http://schemas.microsoft.com/office/drawing/2014/main" id="{E8E5E985-7059-1829-0725-4DF8618F9F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49A614C0-E14F-24D2-0261-44052F7F65A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2800444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4" r:id="rId13"/>
    <p:sldLayoutId id="2147483666" r:id="rId14"/>
    <p:sldLayoutId id="214748366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6" y="1452638"/>
            <a:ext cx="11561058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Программирование на </a:t>
            </a:r>
            <a:r>
              <a:rPr lang="ru-RU" dirty="0"/>
              <a:t>языке </a:t>
            </a:r>
            <a:r>
              <a:rPr lang="en-US" dirty="0"/>
              <a:t>SQL</a:t>
            </a:r>
            <a:endParaRPr lang="ru-RS" dirty="0"/>
          </a:p>
          <a:p>
            <a:endParaRPr lang="ru-RS" dirty="0"/>
          </a:p>
          <a:p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6" y="2054431"/>
            <a:ext cx="5836914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dirty="0"/>
              <a:t>Типы данных в </a:t>
            </a:r>
            <a:r>
              <a:rPr lang="ru-RU" dirty="0" err="1"/>
              <a:t>PostgreSQL</a:t>
            </a:r>
            <a:endParaRPr lang="ru-R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4D494D0-3B60-409D-93CE-BF969AFD4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483" y="5483591"/>
            <a:ext cx="961449" cy="878825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</p:pic>
      <p:sp>
        <p:nvSpPr>
          <p:cNvPr id="11" name="Текст 4">
            <a:extLst>
              <a:ext uri="{FF2B5EF4-FFF2-40B4-BE49-F238E27FC236}">
                <a16:creationId xmlns:a16="http://schemas.microsoft.com/office/drawing/2014/main" id="{EF953A63-EC1D-499D-8461-C9CD859F987B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Кирсанов</a:t>
            </a:r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251F69CA-900E-47F5-BA65-EF0202CF0469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Руководитель направления разработки инструментов</a:t>
            </a:r>
          </a:p>
          <a:p>
            <a:r>
              <a:rPr lang="ru-RU" dirty="0"/>
              <a:t>для цифровых каналов коммуникации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">
            <a:extLst>
              <a:ext uri="{FF2B5EF4-FFF2-40B4-BE49-F238E27FC236}">
                <a16:creationId xmlns:a16="http://schemas.microsoft.com/office/drawing/2014/main" id="{52515E32-1DB7-14E1-F814-CEB436C2899C}"/>
              </a:ext>
            </a:extLst>
          </p:cNvPr>
          <p:cNvSpPr txBox="1">
            <a:spLocks/>
          </p:cNvSpPr>
          <p:nvPr/>
        </p:nvSpPr>
        <p:spPr>
          <a:xfrm>
            <a:off x="556771" y="3610840"/>
            <a:ext cx="4592264" cy="23366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ru-RU" dirty="0"/>
          </a:p>
          <a:p>
            <a:r>
              <a:rPr lang="ru-RU" dirty="0"/>
              <a:t>✅ Целостность данных – нельзя записать текст в числовое поле.  </a:t>
            </a:r>
          </a:p>
          <a:p>
            <a:r>
              <a:rPr lang="ru-RU" dirty="0"/>
              <a:t>✅ Эффективность – числа обрабатываются быстрее строк.  </a:t>
            </a:r>
          </a:p>
          <a:p>
            <a:r>
              <a:rPr lang="ru-RU" dirty="0"/>
              <a:t>✅ Оптимизация памяти – `INT` (4 байта) </a:t>
            </a:r>
            <a:r>
              <a:rPr lang="ru-RU" dirty="0" err="1"/>
              <a:t>vs</a:t>
            </a:r>
            <a:r>
              <a:rPr lang="ru-RU" dirty="0"/>
              <a:t> строка "1000000</a:t>
            </a:r>
            <a:r>
              <a:rPr lang="ru-RU"/>
              <a:t>" (7 </a:t>
            </a:r>
            <a:r>
              <a:rPr lang="ru-RU" dirty="0"/>
              <a:t>байт). </a:t>
            </a:r>
            <a:endParaRPr lang="en-US" dirty="0"/>
          </a:p>
          <a:p>
            <a:r>
              <a:rPr lang="ru-RU" dirty="0"/>
              <a:t>✅ Оптимизация расчетов/операций – </a:t>
            </a:r>
            <a:r>
              <a:rPr lang="en-US" dirty="0"/>
              <a:t>JSON</a:t>
            </a:r>
            <a:r>
              <a:rPr lang="ru-RU" dirty="0"/>
              <a:t>, геометрические, диапазонные, сетевые</a:t>
            </a:r>
          </a:p>
          <a:p>
            <a:endParaRPr lang="ru-RU" dirty="0"/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DC8405B7-E02D-9A2E-0E4D-41516C718F08}"/>
              </a:ext>
            </a:extLst>
          </p:cNvPr>
          <p:cNvSpPr txBox="1">
            <a:spLocks/>
          </p:cNvSpPr>
          <p:nvPr/>
        </p:nvSpPr>
        <p:spPr>
          <a:xfrm>
            <a:off x="556771" y="3429000"/>
            <a:ext cx="4592264" cy="34589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Зачем нужны типы?</a:t>
            </a:r>
            <a:endParaRPr lang="ru-RS" dirty="0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ECD38B59-45C4-2FE0-1FDD-B643FDE86D85}"/>
              </a:ext>
            </a:extLst>
          </p:cNvPr>
          <p:cNvSpPr txBox="1">
            <a:spLocks/>
          </p:cNvSpPr>
          <p:nvPr/>
        </p:nvSpPr>
        <p:spPr>
          <a:xfrm>
            <a:off x="6552103" y="3852985"/>
            <a:ext cx="4940814" cy="1900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- Сортировка `"1", "10", "2"` → некорректный порядок.  </a:t>
            </a:r>
          </a:p>
          <a:p>
            <a:r>
              <a:rPr lang="ru-RU" dirty="0"/>
              <a:t>- Арифметические операции невозможны.  </a:t>
            </a:r>
          </a:p>
          <a:p>
            <a:r>
              <a:rPr lang="ru-RU" dirty="0"/>
              <a:t>- Занимает больше места.</a:t>
            </a:r>
            <a:endParaRPr lang="en-US" dirty="0"/>
          </a:p>
          <a:p>
            <a:r>
              <a:rPr lang="ru-RU" dirty="0"/>
              <a:t>- В некоторых случаях дольше </a:t>
            </a:r>
            <a:r>
              <a:rPr lang="ru-RU" dirty="0" err="1"/>
              <a:t>обрабатываюстя</a:t>
            </a:r>
            <a:r>
              <a:rPr lang="ru-RU" dirty="0"/>
              <a:t>.</a:t>
            </a:r>
            <a:endParaRPr lang="ru-RS" dirty="0"/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F226D868-9FB7-7E39-8F74-5A16EA43DF73}"/>
              </a:ext>
            </a:extLst>
          </p:cNvPr>
          <p:cNvSpPr txBox="1">
            <a:spLocks/>
          </p:cNvSpPr>
          <p:nvPr/>
        </p:nvSpPr>
        <p:spPr>
          <a:xfrm>
            <a:off x="6552103" y="3475365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Почему не хранить всё как текст?</a:t>
            </a:r>
            <a:endParaRPr lang="ru-RS" dirty="0"/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95F6E4E8-89AF-408A-8F4E-41E49081FA60}"/>
              </a:ext>
            </a:extLst>
          </p:cNvPr>
          <p:cNvSpPr/>
          <p:nvPr/>
        </p:nvSpPr>
        <p:spPr>
          <a:xfrm>
            <a:off x="11315297" y="5719577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rgbClr val="FFF654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3F7880-FFEA-0045-DBE3-933C17EC63F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7EF86DF-4AFD-7611-C187-D42F0DCB2CC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такое </a:t>
            </a:r>
            <a:r>
              <a:rPr lang="ru-RU" dirty="0">
                <a:solidFill>
                  <a:srgbClr val="FF0000"/>
                </a:solidFill>
              </a:rPr>
              <a:t>тип данных?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C0516869-352F-4CA6-A83A-2AC3AFB85CD4}"/>
              </a:ext>
            </a:extLst>
          </p:cNvPr>
          <p:cNvSpPr txBox="1">
            <a:spLocks/>
          </p:cNvSpPr>
          <p:nvPr/>
        </p:nvSpPr>
        <p:spPr>
          <a:xfrm>
            <a:off x="259086" y="2124515"/>
            <a:ext cx="10569876" cy="9676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Типы данных определяют то, какие значения будут храниться в каждом столбце таблицы, а также объем, который будут занимать данные и операции, применимые к таким значениям.</a:t>
            </a:r>
            <a:endParaRPr lang="ru-RS" dirty="0"/>
          </a:p>
        </p:txBody>
      </p:sp>
      <p:sp>
        <p:nvSpPr>
          <p:cNvPr id="18" name="Полилиния 16">
            <a:extLst>
              <a:ext uri="{FF2B5EF4-FFF2-40B4-BE49-F238E27FC236}">
                <a16:creationId xmlns:a16="http://schemas.microsoft.com/office/drawing/2014/main" id="{5AC999CB-5538-48C5-BCB9-C35068D958A1}"/>
              </a:ext>
            </a:extLst>
          </p:cNvPr>
          <p:cNvSpPr/>
          <p:nvPr/>
        </p:nvSpPr>
        <p:spPr>
          <a:xfrm>
            <a:off x="5375956" y="5719576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chemeClr val="bg1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80757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Целочисленные </a:t>
            </a:r>
            <a:r>
              <a:rPr lang="ru-RU" dirty="0"/>
              <a:t>типы данных</a:t>
            </a:r>
            <a:endParaRPr lang="ru-RS" dirty="0"/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A5B2FA59-2B74-4245-8EEF-0898FD6CD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3012267"/>
              </p:ext>
            </p:extLst>
          </p:nvPr>
        </p:nvGraphicFramePr>
        <p:xfrm>
          <a:off x="371475" y="2080575"/>
          <a:ext cx="11268288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8848">
                  <a:extLst>
                    <a:ext uri="{9D8B030D-6E8A-4147-A177-3AD203B41FA5}">
                      <a16:colId xmlns:a16="http://schemas.microsoft.com/office/drawing/2014/main" val="2391380390"/>
                    </a:ext>
                  </a:extLst>
                </a:gridCol>
                <a:gridCol w="1535185">
                  <a:extLst>
                    <a:ext uri="{9D8B030D-6E8A-4147-A177-3AD203B41FA5}">
                      <a16:colId xmlns:a16="http://schemas.microsoft.com/office/drawing/2014/main" val="2595770175"/>
                    </a:ext>
                  </a:extLst>
                </a:gridCol>
                <a:gridCol w="5821960">
                  <a:extLst>
                    <a:ext uri="{9D8B030D-6E8A-4147-A177-3AD203B41FA5}">
                      <a16:colId xmlns:a16="http://schemas.microsoft.com/office/drawing/2014/main" val="3830390640"/>
                    </a:ext>
                  </a:extLst>
                </a:gridCol>
                <a:gridCol w="1602295">
                  <a:extLst>
                    <a:ext uri="{9D8B030D-6E8A-4147-A177-3AD203B41FA5}">
                      <a16:colId xmlns:a16="http://schemas.microsoft.com/office/drawing/2014/main" val="704054673"/>
                    </a:ext>
                  </a:extLst>
                </a:gridCol>
              </a:tblGrid>
              <a:tr h="340193"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</a:rPr>
                        <a:t>Тип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solidFill>
                            <a:schemeClr val="bg1"/>
                          </a:solidFill>
                          <a:effectLst/>
                        </a:rPr>
                        <a:t>Размер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</a:rPr>
                        <a:t>Диапазон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solidFill>
                            <a:schemeClr val="bg1"/>
                          </a:solidFill>
                          <a:effectLst/>
                        </a:rPr>
                        <a:t>Пример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332920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SMALLINT 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2 байта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-32768..32767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13556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41439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INTEGER 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4 байта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-2147483648..2147483647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-246311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62205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BIGINT 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8 байт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-9223372036854775808..9223372036854775807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12241515666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265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99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Целочисленные </a:t>
            </a:r>
            <a:r>
              <a:rPr lang="ru-RU" dirty="0"/>
              <a:t>типы данных (</a:t>
            </a:r>
            <a:r>
              <a:rPr lang="ru-RU" dirty="0" err="1"/>
              <a:t>автоинкрементирующееся</a:t>
            </a:r>
            <a:r>
              <a:rPr lang="ru-RU" dirty="0"/>
              <a:t>)</a:t>
            </a:r>
            <a:endParaRPr lang="ru-RS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E556079-9C00-4984-9FB3-475E7CDD30E7}"/>
              </a:ext>
            </a:extLst>
          </p:cNvPr>
          <p:cNvSpPr txBox="1">
            <a:spLocks/>
          </p:cNvSpPr>
          <p:nvPr/>
        </p:nvSpPr>
        <p:spPr>
          <a:xfrm>
            <a:off x="260669" y="2467414"/>
            <a:ext cx="10569876" cy="3151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Tx/>
              <a:buChar char="-"/>
            </a:pPr>
            <a:r>
              <a:rPr lang="ru-RU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serial</a:t>
            </a:r>
            <a:r>
              <a:rPr lang="ru-RU" dirty="0"/>
              <a:t>: занимает 4 байта и может хранить числа от 1 до 2147483647. Значение данного типа образуется путем </a:t>
            </a:r>
            <a:r>
              <a:rPr lang="ru-RU" dirty="0" err="1"/>
              <a:t>автоинкремента</a:t>
            </a:r>
            <a:r>
              <a:rPr lang="ru-RU" dirty="0"/>
              <a:t> значения предыдущей строки. Поэтому, как правило, данный тип используется для определения идентификаторов строки.</a:t>
            </a:r>
          </a:p>
          <a:p>
            <a:pPr algn="just"/>
            <a:endParaRPr lang="ru-RU" dirty="0"/>
          </a:p>
          <a:p>
            <a:pPr marL="342900" indent="-342900" algn="just">
              <a:buFontTx/>
              <a:buChar char="-"/>
            </a:pPr>
            <a:r>
              <a:rPr lang="ru-RU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smallserial</a:t>
            </a:r>
            <a:r>
              <a:rPr lang="ru-RU" dirty="0"/>
              <a:t>: занимает 2 байта и может хранить числа от 1 до 32767. Аналог типа </a:t>
            </a:r>
            <a:r>
              <a:rPr lang="ru-RU" dirty="0" err="1"/>
              <a:t>serial</a:t>
            </a:r>
            <a:r>
              <a:rPr lang="ru-RU" dirty="0"/>
              <a:t> для небольших чисел.</a:t>
            </a:r>
          </a:p>
          <a:p>
            <a:pPr algn="just"/>
            <a:endParaRPr lang="ru-RU" dirty="0"/>
          </a:p>
          <a:p>
            <a:pPr marL="342900" indent="-342900" algn="just">
              <a:buFontTx/>
              <a:buChar char="-"/>
            </a:pPr>
            <a:r>
              <a:rPr lang="ru-RU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bigserial</a:t>
            </a:r>
            <a:r>
              <a:rPr lang="ru-RU" dirty="0"/>
              <a:t>: занимает 8 байт и может хранить числа от 1 до 9223372036854775807. Аналог типа </a:t>
            </a:r>
            <a:r>
              <a:rPr lang="ru-RU" dirty="0" err="1"/>
              <a:t>serial</a:t>
            </a:r>
            <a:r>
              <a:rPr lang="ru-RU" dirty="0"/>
              <a:t> для больших чисел</a:t>
            </a:r>
          </a:p>
        </p:txBody>
      </p:sp>
    </p:spTree>
    <p:extLst>
      <p:ext uri="{BB962C8B-B14F-4D97-AF65-F5344CB8AC3E}">
        <p14:creationId xmlns:p14="http://schemas.microsoft.com/office/powerpoint/2010/main" val="453395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Вещественные </a:t>
            </a:r>
            <a:r>
              <a:rPr lang="ru-RU" dirty="0"/>
              <a:t>типы данных</a:t>
            </a:r>
            <a:endParaRPr lang="ru-RS" dirty="0"/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A5B2FA59-2B74-4245-8EEF-0898FD6CD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4070591"/>
              </p:ext>
            </p:extLst>
          </p:nvPr>
        </p:nvGraphicFramePr>
        <p:xfrm>
          <a:off x="260669" y="2104462"/>
          <a:ext cx="11670663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9322">
                  <a:extLst>
                    <a:ext uri="{9D8B030D-6E8A-4147-A177-3AD203B41FA5}">
                      <a16:colId xmlns:a16="http://schemas.microsoft.com/office/drawing/2014/main" val="2391380390"/>
                    </a:ext>
                  </a:extLst>
                </a:gridCol>
                <a:gridCol w="1351722">
                  <a:extLst>
                    <a:ext uri="{9D8B030D-6E8A-4147-A177-3AD203B41FA5}">
                      <a16:colId xmlns:a16="http://schemas.microsoft.com/office/drawing/2014/main" val="2595770175"/>
                    </a:ext>
                  </a:extLst>
                </a:gridCol>
                <a:gridCol w="5679619">
                  <a:extLst>
                    <a:ext uri="{9D8B030D-6E8A-4147-A177-3AD203B41FA5}">
                      <a16:colId xmlns:a16="http://schemas.microsoft.com/office/drawing/2014/main" val="704054673"/>
                    </a:ext>
                  </a:extLst>
                </a:gridCol>
              </a:tblGrid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</a:rPr>
                        <a:t>Тип 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</a:rPr>
                        <a:t>Размер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</a:rPr>
                        <a:t>Пример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332920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DECIMAL(p, s)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До 1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 байт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99.99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14123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NUMERIC(p, s)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До 1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 байт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87</a:t>
                      </a:r>
                      <a:endParaRPr lang="ru-RU" sz="1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41439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REAL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 байт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0.3256486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62205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FLOAT(9)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 байт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1.1246498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57</a:t>
                      </a:r>
                      <a:endParaRPr lang="ru-RU" sz="1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849204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DOUBLE PRECISION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 байт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1.12464987948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4587</a:t>
                      </a:r>
                      <a:endParaRPr lang="ru-RU" sz="1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008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560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6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Строковые </a:t>
            </a:r>
            <a:r>
              <a:rPr lang="ru-RU" dirty="0"/>
              <a:t>типы данных</a:t>
            </a:r>
            <a:endParaRPr lang="ru-RS" dirty="0"/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A5B2FA59-2B74-4245-8EEF-0898FD6CD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3947805"/>
              </p:ext>
            </p:extLst>
          </p:nvPr>
        </p:nvGraphicFramePr>
        <p:xfrm>
          <a:off x="371475" y="1870000"/>
          <a:ext cx="1155985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26">
                  <a:extLst>
                    <a:ext uri="{9D8B030D-6E8A-4147-A177-3AD203B41FA5}">
                      <a16:colId xmlns:a16="http://schemas.microsoft.com/office/drawing/2014/main" val="2391380390"/>
                    </a:ext>
                  </a:extLst>
                </a:gridCol>
                <a:gridCol w="6559230">
                  <a:extLst>
                    <a:ext uri="{9D8B030D-6E8A-4147-A177-3AD203B41FA5}">
                      <a16:colId xmlns:a16="http://schemas.microsoft.com/office/drawing/2014/main" val="2595770175"/>
                    </a:ext>
                  </a:extLst>
                </a:gridCol>
              </a:tblGrid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ru-RU" b="1" dirty="0">
                          <a:solidFill>
                            <a:schemeClr val="bg1"/>
                          </a:solidFill>
                          <a:effectLst/>
                        </a:rPr>
                        <a:t>Тип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bg1"/>
                          </a:solidFill>
                          <a:effectLst/>
                        </a:rPr>
                        <a:t>Объем хранения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332920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VARCHAR(n)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До 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n </a:t>
                      </a:r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символов. Плавающая длина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14123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Ограничено размером 1</a:t>
                      </a: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GB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41439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CHAR(n)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До 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n </a:t>
                      </a:r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символов. Фиксированная длина. Недостаток символов компенсируется пробелами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868196"/>
                  </a:ext>
                </a:extLst>
              </a:tr>
            </a:tbl>
          </a:graphicData>
        </a:graphic>
      </p:graphicFrame>
      <p:sp>
        <p:nvSpPr>
          <p:cNvPr id="5" name="Текст 4">
            <a:extLst>
              <a:ext uri="{FF2B5EF4-FFF2-40B4-BE49-F238E27FC236}">
                <a16:creationId xmlns:a16="http://schemas.microsoft.com/office/drawing/2014/main" id="{B26D2324-5A22-455A-8066-619D4D269FAD}"/>
              </a:ext>
            </a:extLst>
          </p:cNvPr>
          <p:cNvSpPr txBox="1">
            <a:spLocks/>
          </p:cNvSpPr>
          <p:nvPr/>
        </p:nvSpPr>
        <p:spPr>
          <a:xfrm>
            <a:off x="1554841" y="5862524"/>
            <a:ext cx="8439741" cy="867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слово "База" (4 символа) займет: 1 байт (заголовок) + (4 * 2) байта = 9 байт</a:t>
            </a:r>
          </a:p>
        </p:txBody>
      </p:sp>
      <p:sp>
        <p:nvSpPr>
          <p:cNvPr id="10" name="Скругленный прямоугольник 2">
            <a:extLst>
              <a:ext uri="{FF2B5EF4-FFF2-40B4-BE49-F238E27FC236}">
                <a16:creationId xmlns:a16="http://schemas.microsoft.com/office/drawing/2014/main" id="{D2D68CD8-B89B-4165-87AB-FCE2027DB150}"/>
              </a:ext>
            </a:extLst>
          </p:cNvPr>
          <p:cNvSpPr/>
          <p:nvPr/>
        </p:nvSpPr>
        <p:spPr>
          <a:xfrm>
            <a:off x="1941875" y="4162327"/>
            <a:ext cx="1319792" cy="547076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 байт</a:t>
            </a:r>
            <a:endParaRPr lang="ru-RS" dirty="0"/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38528DB2-2911-4C02-ABFE-79C70EFC51C1}"/>
              </a:ext>
            </a:extLst>
          </p:cNvPr>
          <p:cNvSpPr txBox="1">
            <a:spLocks/>
          </p:cNvSpPr>
          <p:nvPr/>
        </p:nvSpPr>
        <p:spPr>
          <a:xfrm>
            <a:off x="440423" y="4193712"/>
            <a:ext cx="2161349" cy="48430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если строка</a:t>
            </a:r>
            <a:br>
              <a:rPr lang="ru-RU" sz="1800" dirty="0"/>
            </a:br>
            <a:r>
              <a:rPr lang="en-US" sz="1800" dirty="0"/>
              <a:t>&lt;</a:t>
            </a:r>
            <a:r>
              <a:rPr lang="ru-RU" sz="1800" dirty="0"/>
              <a:t> 127 байт</a:t>
            </a:r>
            <a:endParaRPr lang="ru-RU" sz="1800" dirty="0">
              <a:solidFill>
                <a:srgbClr val="FFFF00"/>
              </a:solidFill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32B5CE02-BA5F-476F-A3FB-B9705C7F4B91}"/>
              </a:ext>
            </a:extLst>
          </p:cNvPr>
          <p:cNvSpPr txBox="1">
            <a:spLocks/>
          </p:cNvSpPr>
          <p:nvPr/>
        </p:nvSpPr>
        <p:spPr>
          <a:xfrm>
            <a:off x="440422" y="4969624"/>
            <a:ext cx="2161349" cy="48430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если строка</a:t>
            </a:r>
            <a:br>
              <a:rPr lang="ru-RU" sz="1800" dirty="0"/>
            </a:br>
            <a:r>
              <a:rPr lang="en-US" sz="1800" dirty="0"/>
              <a:t>&gt;=</a:t>
            </a:r>
            <a:r>
              <a:rPr lang="ru-RU" sz="1800" dirty="0"/>
              <a:t> 127 байт</a:t>
            </a:r>
            <a:endParaRPr lang="ru-RU" sz="1800" dirty="0">
              <a:solidFill>
                <a:srgbClr val="FFFF00"/>
              </a:solidFill>
            </a:endParaRPr>
          </a:p>
        </p:txBody>
      </p:sp>
      <p:sp>
        <p:nvSpPr>
          <p:cNvPr id="13" name="Скругленный прямоугольник 2">
            <a:extLst>
              <a:ext uri="{FF2B5EF4-FFF2-40B4-BE49-F238E27FC236}">
                <a16:creationId xmlns:a16="http://schemas.microsoft.com/office/drawing/2014/main" id="{A6790A98-AF25-4E27-82D9-026DEA8CBDC4}"/>
              </a:ext>
            </a:extLst>
          </p:cNvPr>
          <p:cNvSpPr/>
          <p:nvPr/>
        </p:nvSpPr>
        <p:spPr>
          <a:xfrm>
            <a:off x="1941875" y="5001009"/>
            <a:ext cx="1319792" cy="547076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ru-RU" dirty="0"/>
              <a:t> байта</a:t>
            </a:r>
            <a:endParaRPr lang="ru-RS" dirty="0"/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5376FF00-E303-43C4-A5D4-19CD814586CF}"/>
              </a:ext>
            </a:extLst>
          </p:cNvPr>
          <p:cNvSpPr txBox="1">
            <a:spLocks/>
          </p:cNvSpPr>
          <p:nvPr/>
        </p:nvSpPr>
        <p:spPr>
          <a:xfrm>
            <a:off x="3334426" y="4529514"/>
            <a:ext cx="837746" cy="65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200" dirty="0">
                <a:solidFill>
                  <a:srgbClr val="FFFF00"/>
                </a:solidFill>
              </a:rPr>
              <a:t>+</a:t>
            </a:r>
            <a:endParaRPr lang="ru-RU" sz="3200" dirty="0"/>
          </a:p>
        </p:txBody>
      </p:sp>
      <p:sp>
        <p:nvSpPr>
          <p:cNvPr id="19" name="Скругленный прямоугольник 2">
            <a:extLst>
              <a:ext uri="{FF2B5EF4-FFF2-40B4-BE49-F238E27FC236}">
                <a16:creationId xmlns:a16="http://schemas.microsoft.com/office/drawing/2014/main" id="{0AADC03A-F1B1-4674-83E6-ACEAFC2AF006}"/>
              </a:ext>
            </a:extLst>
          </p:cNvPr>
          <p:cNvSpPr/>
          <p:nvPr/>
        </p:nvSpPr>
        <p:spPr>
          <a:xfrm>
            <a:off x="4315975" y="4159558"/>
            <a:ext cx="1319792" cy="547076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 байт</a:t>
            </a:r>
            <a:endParaRPr lang="ru-RS" dirty="0"/>
          </a:p>
        </p:txBody>
      </p:sp>
      <p:sp>
        <p:nvSpPr>
          <p:cNvPr id="20" name="Скругленный прямоугольник 2">
            <a:extLst>
              <a:ext uri="{FF2B5EF4-FFF2-40B4-BE49-F238E27FC236}">
                <a16:creationId xmlns:a16="http://schemas.microsoft.com/office/drawing/2014/main" id="{DD345BB2-AB59-4ACD-84DD-E4BC9D32CB21}"/>
              </a:ext>
            </a:extLst>
          </p:cNvPr>
          <p:cNvSpPr/>
          <p:nvPr/>
        </p:nvSpPr>
        <p:spPr>
          <a:xfrm>
            <a:off x="371474" y="4041014"/>
            <a:ext cx="3082925" cy="1633145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 dirty="0"/>
          </a:p>
        </p:txBody>
      </p:sp>
      <p:sp>
        <p:nvSpPr>
          <p:cNvPr id="22" name="Скругленный прямоугольник 2">
            <a:extLst>
              <a:ext uri="{FF2B5EF4-FFF2-40B4-BE49-F238E27FC236}">
                <a16:creationId xmlns:a16="http://schemas.microsoft.com/office/drawing/2014/main" id="{5980BEAA-72F5-4F2D-A2A1-2BA4CD80F912}"/>
              </a:ext>
            </a:extLst>
          </p:cNvPr>
          <p:cNvSpPr/>
          <p:nvPr/>
        </p:nvSpPr>
        <p:spPr>
          <a:xfrm>
            <a:off x="4099746" y="4041013"/>
            <a:ext cx="4708192" cy="1633145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 dirty="0"/>
          </a:p>
        </p:txBody>
      </p:sp>
      <p:sp>
        <p:nvSpPr>
          <p:cNvPr id="23" name="Скругленный прямоугольник 2">
            <a:extLst>
              <a:ext uri="{FF2B5EF4-FFF2-40B4-BE49-F238E27FC236}">
                <a16:creationId xmlns:a16="http://schemas.microsoft.com/office/drawing/2014/main" id="{6512190A-B3D0-4146-A434-317136F086F5}"/>
              </a:ext>
            </a:extLst>
          </p:cNvPr>
          <p:cNvSpPr/>
          <p:nvPr/>
        </p:nvSpPr>
        <p:spPr>
          <a:xfrm>
            <a:off x="4315975" y="4995266"/>
            <a:ext cx="1319792" cy="547076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 байта</a:t>
            </a:r>
            <a:endParaRPr lang="ru-RS" dirty="0"/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DDF4E11B-C446-414B-8DF4-EA7B02C5575E}"/>
              </a:ext>
            </a:extLst>
          </p:cNvPr>
          <p:cNvSpPr txBox="1">
            <a:spLocks/>
          </p:cNvSpPr>
          <p:nvPr/>
        </p:nvSpPr>
        <p:spPr>
          <a:xfrm>
            <a:off x="5774712" y="4229379"/>
            <a:ext cx="2927439" cy="501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rgbClr val="FFFF00"/>
                </a:solidFill>
              </a:rPr>
              <a:t>если буквы на латинице</a:t>
            </a:r>
            <a:endParaRPr lang="ru-RU" sz="1800" dirty="0"/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7AE6B767-10B9-4B9D-B228-7F5F40511231}"/>
              </a:ext>
            </a:extLst>
          </p:cNvPr>
          <p:cNvSpPr txBox="1">
            <a:spLocks/>
          </p:cNvSpPr>
          <p:nvPr/>
        </p:nvSpPr>
        <p:spPr>
          <a:xfrm>
            <a:off x="3339284" y="4529513"/>
            <a:ext cx="837746" cy="65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200" dirty="0">
                <a:solidFill>
                  <a:srgbClr val="FFFF00"/>
                </a:solidFill>
              </a:rPr>
              <a:t>+</a:t>
            </a:r>
            <a:endParaRPr lang="ru-RU" sz="3200" dirty="0"/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3B3538D5-452B-484D-B499-285BBD1A544F}"/>
              </a:ext>
            </a:extLst>
          </p:cNvPr>
          <p:cNvSpPr txBox="1">
            <a:spLocks/>
          </p:cNvSpPr>
          <p:nvPr/>
        </p:nvSpPr>
        <p:spPr>
          <a:xfrm>
            <a:off x="5774712" y="5022388"/>
            <a:ext cx="2927439" cy="501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rgbClr val="FFFF00"/>
                </a:solidFill>
              </a:rPr>
              <a:t>если буквы на кириллице</a:t>
            </a:r>
            <a:endParaRPr lang="ru-RU" sz="1800" dirty="0"/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23DDCCFC-4CD1-424C-A131-0FE62A588B49}"/>
              </a:ext>
            </a:extLst>
          </p:cNvPr>
          <p:cNvSpPr txBox="1">
            <a:spLocks/>
          </p:cNvSpPr>
          <p:nvPr/>
        </p:nvSpPr>
        <p:spPr>
          <a:xfrm>
            <a:off x="3334426" y="4529513"/>
            <a:ext cx="837746" cy="65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200" dirty="0">
                <a:solidFill>
                  <a:srgbClr val="FFFF00"/>
                </a:solidFill>
              </a:rPr>
              <a:t>+</a:t>
            </a:r>
            <a:endParaRPr lang="ru-RU" sz="3200" dirty="0"/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4AC5ABDF-D51A-4103-B4DF-0AC1A29FB2C1}"/>
              </a:ext>
            </a:extLst>
          </p:cNvPr>
          <p:cNvSpPr txBox="1">
            <a:spLocks/>
          </p:cNvSpPr>
          <p:nvPr/>
        </p:nvSpPr>
        <p:spPr>
          <a:xfrm rot="2788543">
            <a:off x="8729139" y="4523504"/>
            <a:ext cx="837746" cy="65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200" dirty="0">
                <a:solidFill>
                  <a:srgbClr val="FFFF00"/>
                </a:solidFill>
              </a:rPr>
              <a:t>+</a:t>
            </a:r>
            <a:endParaRPr lang="ru-RU" sz="3200" dirty="0"/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1E1F3809-1243-4830-BF50-ABC155663585}"/>
              </a:ext>
            </a:extLst>
          </p:cNvPr>
          <p:cNvSpPr txBox="1">
            <a:spLocks/>
          </p:cNvSpPr>
          <p:nvPr/>
        </p:nvSpPr>
        <p:spPr>
          <a:xfrm>
            <a:off x="9486860" y="4462585"/>
            <a:ext cx="2201193" cy="1211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rgbClr val="FFFF00"/>
                </a:solidFill>
              </a:rPr>
              <a:t>количество</a:t>
            </a:r>
            <a:br>
              <a:rPr lang="ru-RU" sz="1800" dirty="0">
                <a:solidFill>
                  <a:srgbClr val="FFFF00"/>
                </a:solidFill>
              </a:rPr>
            </a:br>
            <a:r>
              <a:rPr lang="ru-RU" sz="1800" dirty="0">
                <a:solidFill>
                  <a:srgbClr val="FFFF00"/>
                </a:solidFill>
              </a:rPr>
              <a:t>букв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002709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7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Типы данных для </a:t>
            </a:r>
            <a:r>
              <a:rPr lang="ru-RU" dirty="0"/>
              <a:t>даты и времени</a:t>
            </a:r>
            <a:endParaRPr lang="ru-RS" dirty="0"/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A5B2FA59-2B74-4245-8EEF-0898FD6CD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0565307"/>
              </p:ext>
            </p:extLst>
          </p:nvPr>
        </p:nvGraphicFramePr>
        <p:xfrm>
          <a:off x="371475" y="2104462"/>
          <a:ext cx="11500696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4438">
                  <a:extLst>
                    <a:ext uri="{9D8B030D-6E8A-4147-A177-3AD203B41FA5}">
                      <a16:colId xmlns:a16="http://schemas.microsoft.com/office/drawing/2014/main" val="2391380390"/>
                    </a:ext>
                  </a:extLst>
                </a:gridCol>
                <a:gridCol w="6306258">
                  <a:extLst>
                    <a:ext uri="{9D8B030D-6E8A-4147-A177-3AD203B41FA5}">
                      <a16:colId xmlns:a16="http://schemas.microsoft.com/office/drawing/2014/main" val="2595770175"/>
                    </a:ext>
                  </a:extLst>
                </a:gridCol>
              </a:tblGrid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</a:rPr>
                        <a:t>Тип 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</a:rPr>
                        <a:t>Пример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332920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'2024-01-01'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14123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TIMESTAMP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'2024-01-01 12:00:00'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41439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TIMESTAMPT WITH TIME ZONE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'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2026-04-30 00:00:00.000 +0300</a:t>
                      </a:r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'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62205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INTERVAL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INTERVAL '1 day', </a:t>
                      </a: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INTERVAL '24 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month'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08788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'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19:53:12</a:t>
                      </a:r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'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527653"/>
                  </a:ext>
                </a:extLst>
              </a:tr>
            </a:tbl>
          </a:graphicData>
        </a:graphic>
      </p:graphicFrame>
      <p:sp>
        <p:nvSpPr>
          <p:cNvPr id="5" name="Текст 4">
            <a:extLst>
              <a:ext uri="{FF2B5EF4-FFF2-40B4-BE49-F238E27FC236}">
                <a16:creationId xmlns:a16="http://schemas.microsoft.com/office/drawing/2014/main" id="{3060AE89-6BBE-4FD1-AA61-97B20C56891A}"/>
              </a:ext>
            </a:extLst>
          </p:cNvPr>
          <p:cNvSpPr txBox="1">
            <a:spLocks/>
          </p:cNvSpPr>
          <p:nvPr/>
        </p:nvSpPr>
        <p:spPr>
          <a:xfrm>
            <a:off x="198202" y="5071677"/>
            <a:ext cx="11500696" cy="509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>
                <a:solidFill>
                  <a:srgbClr val="FFFF00"/>
                </a:solidFill>
              </a:rPr>
              <a:t>Максимальные и минимальные значения для дат</a:t>
            </a:r>
            <a:r>
              <a:rPr lang="en-US" dirty="0">
                <a:solidFill>
                  <a:srgbClr val="FFFF00"/>
                </a:solidFill>
              </a:rPr>
              <a:t> - 4713 BC - 5.8M AD</a:t>
            </a:r>
            <a:endParaRPr lang="ru-RU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959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8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Логический </a:t>
            </a:r>
            <a:r>
              <a:rPr lang="ru-RU" dirty="0">
                <a:solidFill>
                  <a:srgbClr val="FF0000"/>
                </a:solidFill>
              </a:rPr>
              <a:t>тип</a:t>
            </a:r>
            <a:r>
              <a:rPr lang="ru-RU" dirty="0">
                <a:solidFill>
                  <a:schemeClr val="bg1"/>
                </a:solidFill>
              </a:rPr>
              <a:t>, двоичные </a:t>
            </a:r>
            <a:r>
              <a:rPr lang="ru-RU" dirty="0">
                <a:solidFill>
                  <a:srgbClr val="FF0000"/>
                </a:solidFill>
              </a:rPr>
              <a:t>данные</a:t>
            </a:r>
            <a:r>
              <a:rPr lang="ru-RU" dirty="0">
                <a:solidFill>
                  <a:schemeClr val="bg1"/>
                </a:solidFill>
              </a:rPr>
              <a:t>, спец. </a:t>
            </a:r>
            <a:r>
              <a:rPr lang="ru-RU" dirty="0">
                <a:solidFill>
                  <a:srgbClr val="FF0000"/>
                </a:solidFill>
              </a:rPr>
              <a:t>типы</a:t>
            </a:r>
            <a:endParaRPr lang="ru-RS" dirty="0">
              <a:solidFill>
                <a:srgbClr val="FF0000"/>
              </a:solidFill>
            </a:endParaRPr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A5B2FA59-2B74-4245-8EEF-0898FD6CD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0943511"/>
              </p:ext>
            </p:extLst>
          </p:nvPr>
        </p:nvGraphicFramePr>
        <p:xfrm>
          <a:off x="371475" y="2130912"/>
          <a:ext cx="11449050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4621">
                  <a:extLst>
                    <a:ext uri="{9D8B030D-6E8A-4147-A177-3AD203B41FA5}">
                      <a16:colId xmlns:a16="http://schemas.microsoft.com/office/drawing/2014/main" val="2391380390"/>
                    </a:ext>
                  </a:extLst>
                </a:gridCol>
                <a:gridCol w="6284429">
                  <a:extLst>
                    <a:ext uri="{9D8B030D-6E8A-4147-A177-3AD203B41FA5}">
                      <a16:colId xmlns:a16="http://schemas.microsoft.com/office/drawing/2014/main" val="2595770175"/>
                    </a:ext>
                  </a:extLst>
                </a:gridCol>
              </a:tblGrid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</a:rPr>
                        <a:t>Тип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</a:rPr>
                        <a:t>Пример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332920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BOOLEAN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True/False</a:t>
                      </a:r>
                      <a:endParaRPr lang="ru-RU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14123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BYTEA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Последовательность байт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41439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JSON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{"key": "value"}</a:t>
                      </a:r>
                      <a:endParaRPr lang="ru-RU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130283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UUID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dc0deaba-abe2-4f7d-b78d-016b84e1bd16</a:t>
                      </a:r>
                      <a:endParaRPr lang="ru-RU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835571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</a:t>
                      </a:r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Array(Type)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ARRAY[1, 2, 3]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62205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CIDR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116.106.34.242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78754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POLYGON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[(0, 0), (10, 0), (10, 10), (0, 10)]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024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5748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9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580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Полезные </a:t>
            </a:r>
            <a:r>
              <a:rPr lang="ru-RU" dirty="0">
                <a:solidFill>
                  <a:srgbClr val="FF0000"/>
                </a:solidFill>
              </a:rPr>
              <a:t>операторы</a:t>
            </a:r>
            <a:endParaRPr lang="ru-RS" dirty="0">
              <a:solidFill>
                <a:srgbClr val="FF0000"/>
              </a:solidFill>
            </a:endParaRPr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A5B2FA59-2B74-4245-8EEF-0898FD6CD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902732"/>
              </p:ext>
            </p:extLst>
          </p:nvPr>
        </p:nvGraphicFramePr>
        <p:xfrm>
          <a:off x="316072" y="1772719"/>
          <a:ext cx="11449050" cy="4290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3415">
                  <a:extLst>
                    <a:ext uri="{9D8B030D-6E8A-4147-A177-3AD203B41FA5}">
                      <a16:colId xmlns:a16="http://schemas.microsoft.com/office/drawing/2014/main" val="2391380390"/>
                    </a:ext>
                  </a:extLst>
                </a:gridCol>
                <a:gridCol w="5665635">
                  <a:extLst>
                    <a:ext uri="{9D8B030D-6E8A-4147-A177-3AD203B41FA5}">
                      <a16:colId xmlns:a16="http://schemas.microsoft.com/office/drawing/2014/main" val="2393883324"/>
                    </a:ext>
                  </a:extLst>
                </a:gridCol>
              </a:tblGrid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6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Операция</a:t>
                      </a:r>
                      <a:endParaRPr lang="en-US" sz="16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600" b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Синтаксис</a:t>
                      </a:r>
                      <a:endParaRPr lang="ru-RU" sz="16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332920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Приведение к типу данных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cast(12 as varchar(2)) </a:t>
                      </a: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или 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’12’::integer</a:t>
                      </a:r>
                      <a:endParaRPr lang="ru-RU" sz="18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14123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Хэширование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MD5(column)</a:t>
                      </a: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SHA256(column)</a:t>
                      </a:r>
                      <a:endParaRPr lang="ru-RU" sz="18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41439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Текущая дата и время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current_date</a:t>
                      </a: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current_time</a:t>
                      </a: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current_timestamp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now()</a:t>
                      </a:r>
                      <a:endParaRPr lang="ru-RU" sz="18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130283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Создание рядов значений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endParaRPr lang="ru-RU" sz="18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ru-RU" sz="18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 </a:t>
                      </a:r>
                    </a:p>
                    <a:p>
                      <a:pPr marL="0" algn="l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generate_series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(start, stop[, step])</a:t>
                      </a:r>
                      <a:endParaRPr lang="ru-RU" sz="18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835571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Получение части от даты и времени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extract(type</a:t>
                      </a: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column) </a:t>
                      </a: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или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date_part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(type, column)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62205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Наличие элемента в массиве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 = any(ARRAY[10, 11, 12])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188739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Округление дат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date_trunc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(‘month’, column),</a:t>
                      </a: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etc.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48334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Интервал между двумя датами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age(date1, date2)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097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64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10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580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Полезные </a:t>
            </a:r>
            <a:r>
              <a:rPr lang="ru-RU" dirty="0">
                <a:solidFill>
                  <a:srgbClr val="FF0000"/>
                </a:solidFill>
              </a:rPr>
              <a:t>строковые операторы</a:t>
            </a:r>
            <a:endParaRPr lang="ru-RS" dirty="0">
              <a:solidFill>
                <a:srgbClr val="FF0000"/>
              </a:solidFill>
            </a:endParaRPr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A5B2FA59-2B74-4245-8EEF-0898FD6CD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4624250"/>
              </p:ext>
            </p:extLst>
          </p:nvPr>
        </p:nvGraphicFramePr>
        <p:xfrm>
          <a:off x="316072" y="1772719"/>
          <a:ext cx="11449050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1405">
                  <a:extLst>
                    <a:ext uri="{9D8B030D-6E8A-4147-A177-3AD203B41FA5}">
                      <a16:colId xmlns:a16="http://schemas.microsoft.com/office/drawing/2014/main" val="2391380390"/>
                    </a:ext>
                  </a:extLst>
                </a:gridCol>
                <a:gridCol w="6747645">
                  <a:extLst>
                    <a:ext uri="{9D8B030D-6E8A-4147-A177-3AD203B41FA5}">
                      <a16:colId xmlns:a16="http://schemas.microsoft.com/office/drawing/2014/main" val="2393883324"/>
                    </a:ext>
                  </a:extLst>
                </a:gridCol>
              </a:tblGrid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6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Операция</a:t>
                      </a:r>
                      <a:endParaRPr lang="en-US" sz="16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6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Синтаксис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332920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Число символов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length(s) </a:t>
                      </a: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или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character_length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endParaRPr lang="ru-RU" sz="18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14123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Регистр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lower(s), upper(s), </a:t>
                      </a:r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initcap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endParaRPr lang="ru-RU" sz="18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41439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Удаление символов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btrim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(s, chars), </a:t>
                      </a:r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ltrim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(s, chars), </a:t>
                      </a:r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rtrim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(s, chars)</a:t>
                      </a:r>
                      <a:endParaRPr lang="ru-RU" sz="18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130283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Дополнение символов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lpad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(s, length, fill), </a:t>
                      </a:r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rpad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(s, length, fill)</a:t>
                      </a:r>
                      <a:endParaRPr lang="ru-RU" sz="18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835571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Позиция подстроки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strpos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(string, substring)</a:t>
                      </a: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или 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position(substring in string)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62205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n </a:t>
                      </a: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символов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left(s, n), right(s, n)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188739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Замена подстроки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replace(string</a:t>
                      </a: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substring</a:t>
                      </a: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new_substring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642537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Конкатенация строк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string1 || string2 </a:t>
                      </a: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или </a:t>
                      </a:r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concat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(string1, string2, …, </a:t>
                      </a:r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stringN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33847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Склейка с разделителем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concat_ws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string1, string2, …, </a:t>
                      </a:r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stringN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48334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Переворот строки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reverse(s)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760720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n-</a:t>
                      </a:r>
                      <a:r>
                        <a:rPr lang="ru-RU" sz="1800" kern="120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ый</a:t>
                      </a: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элемент после разбиения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split_part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(s, </a:t>
                      </a:r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delimeter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n)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542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196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11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580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Полезные </a:t>
            </a:r>
            <a:r>
              <a:rPr lang="ru-RU" dirty="0">
                <a:solidFill>
                  <a:srgbClr val="FF0000"/>
                </a:solidFill>
              </a:rPr>
              <a:t>числовые операторы</a:t>
            </a:r>
            <a:endParaRPr lang="ru-RS" dirty="0">
              <a:solidFill>
                <a:srgbClr val="FF0000"/>
              </a:solidFill>
            </a:endParaRPr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A5B2FA59-2B74-4245-8EEF-0898FD6CD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5641843"/>
              </p:ext>
            </p:extLst>
          </p:nvPr>
        </p:nvGraphicFramePr>
        <p:xfrm>
          <a:off x="316072" y="1772719"/>
          <a:ext cx="11449050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3415">
                  <a:extLst>
                    <a:ext uri="{9D8B030D-6E8A-4147-A177-3AD203B41FA5}">
                      <a16:colId xmlns:a16="http://schemas.microsoft.com/office/drawing/2014/main" val="2391380390"/>
                    </a:ext>
                  </a:extLst>
                </a:gridCol>
                <a:gridCol w="5665635">
                  <a:extLst>
                    <a:ext uri="{9D8B030D-6E8A-4147-A177-3AD203B41FA5}">
                      <a16:colId xmlns:a16="http://schemas.microsoft.com/office/drawing/2014/main" val="2393883324"/>
                    </a:ext>
                  </a:extLst>
                </a:gridCol>
              </a:tblGrid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6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Операция</a:t>
                      </a:r>
                      <a:endParaRPr lang="en-US" sz="16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600" b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Синтаксис</a:t>
                      </a:r>
                      <a:endParaRPr lang="ru-RU" sz="16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332920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Модуль числа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abs(x)</a:t>
                      </a:r>
                      <a:endParaRPr lang="ru-RU" sz="18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14123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Округление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ceil(x), floor(x), round(x, n)</a:t>
                      </a:r>
                      <a:endParaRPr lang="ru-RU" sz="18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41439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Отсечение дробной части в сторону нуля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trunc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(x), </a:t>
                      </a:r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trunc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(x, n)</a:t>
                      </a:r>
                      <a:endParaRPr lang="ru-RU" sz="18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130283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Знак числа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sign(x)</a:t>
                      </a:r>
                      <a:endParaRPr lang="ru-RU" sz="18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835571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Возведение в степень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power(x, n)</a:t>
                      </a:r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или 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^ 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62205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Извлечение корня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sqrt(x), </a:t>
                      </a:r>
                      <a:r>
                        <a:rPr lang="en-US" sz="18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cbrt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188739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Экспонента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exp(x)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642537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Логарифм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ln(x), log(b, a), log(x), log10(x)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33847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Остаток от деления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mod(x, y)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483346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Целочисленное деление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div(x, y)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016898"/>
                  </a:ext>
                </a:extLst>
              </a:tr>
              <a:tr h="3401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800" kern="120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Прочие</a:t>
                      </a:r>
                      <a:endParaRPr lang="en-US" sz="1800" kern="120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pi(), factorial(x), random()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602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754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9A2A9-D55D-44C0-852A-7560F928A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945</Words>
  <Application>Microsoft Office PowerPoint</Application>
  <PresentationFormat>Широкоэкранный</PresentationFormat>
  <Paragraphs>199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DefKorn</cp:lastModifiedBy>
  <cp:revision>107</cp:revision>
  <dcterms:created xsi:type="dcterms:W3CDTF">2025-08-19T06:56:36Z</dcterms:created>
  <dcterms:modified xsi:type="dcterms:W3CDTF">2026-09-17T08:34:51Z</dcterms:modified>
</cp:coreProperties>
</file>