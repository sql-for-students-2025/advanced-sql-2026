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omments/modernComment_135_B72A1FC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8" r:id="rId2"/>
    <p:sldId id="312" r:id="rId3"/>
    <p:sldId id="309" r:id="rId4"/>
    <p:sldId id="343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733C1B-9808-55E9-F2B0-66DAF38F727B}" name="Гальбинский Владимир Александрович" initials="ГВА" userId="Гальбинский Владимир Александрович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35_B72A1F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52C1FA-5ED9-284B-AE28-8FC48E75841B}" authorId="{41733C1B-9808-55E9-F2B0-66DAF38F727B}" created="2026-08-21T06:59:05.456">
    <pc:sldMkLst xmlns:pc="http://schemas.microsoft.com/office/powerpoint/2013/main/command">
      <pc:docMk/>
      <pc:sldMk cId="3072991172" sldId="309"/>
    </pc:sldMkLst>
    <p188:txBody>
      <a:bodyPr/>
      <a:lstStyle/>
      <a:p>
        <a:r>
          <a:rPr lang="ru-RU"/>
          <a:t>Все примеры показывать в DBeaver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2800444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5_B72A1FC4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Подзапросы в </a:t>
            </a:r>
            <a:r>
              <a:rPr lang="en-US" dirty="0"/>
              <a:t>SQL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 dirty="0"/>
              <a:t>09/07/2025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Ведущий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556771" y="3774963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ru-RU" dirty="0"/>
          </a:p>
          <a:p>
            <a:r>
              <a:rPr lang="ru-RU" dirty="0"/>
              <a:t>✅ Предварительная выборка данных.  </a:t>
            </a:r>
          </a:p>
          <a:p>
            <a:r>
              <a:rPr lang="ru-RU" dirty="0"/>
              <a:t>✅ Фильтрация.  </a:t>
            </a:r>
          </a:p>
          <a:p>
            <a:r>
              <a:rPr lang="ru-RU" dirty="0"/>
              <a:t>✅ Расчет скалярного значения.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556771" y="350709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Зачем нужны подзапросы?</a:t>
            </a:r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42551" y="3965492"/>
            <a:ext cx="4940814" cy="1900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Tx/>
              <a:buChar char="-"/>
            </a:pPr>
            <a:r>
              <a:rPr lang="ru-RU" dirty="0"/>
              <a:t>По месту использования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 количеству возвращаемых строк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 зависимости от внешнего запроса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«Классификация» подзапросов</a:t>
            </a:r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FF0000"/>
                </a:solidFill>
              </a:rPr>
              <a:t>подзапрос?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Вложенные запросы (</a:t>
            </a:r>
            <a:r>
              <a:rPr lang="ru-RU" dirty="0">
                <a:solidFill>
                  <a:srgbClr val="FF0000"/>
                </a:solidFill>
              </a:rPr>
              <a:t>подзапросы</a:t>
            </a:r>
            <a:r>
              <a:rPr lang="ru-RU" dirty="0"/>
              <a:t>) - это SQL-запросы, встроенные в другие SQL-запросы. Они выполняются до основного запроса и возвращают данные, которые используются внешним запросом.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99BECEB9-C240-4795-BA60-E3F9957E5177}"/>
              </a:ext>
            </a:extLst>
          </p:cNvPr>
          <p:cNvSpPr txBox="1">
            <a:spLocks/>
          </p:cNvSpPr>
          <p:nvPr/>
        </p:nvSpPr>
        <p:spPr>
          <a:xfrm>
            <a:off x="427154" y="6262960"/>
            <a:ext cx="10569876" cy="54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Подзапросы</a:t>
            </a:r>
            <a:r>
              <a:rPr lang="ru-RU" dirty="0"/>
              <a:t> - мощный инструмент SQL, который позволяет создавать сложные запросы, но требует внимания к производительности.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8075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Рассмотрим подробнее </a:t>
            </a:r>
            <a:r>
              <a:rPr lang="ru-RU" dirty="0"/>
              <a:t>классификацию</a:t>
            </a:r>
            <a:endParaRPr lang="ru-R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CE4F29-00AA-4DEF-8B75-30082ACC75E8}"/>
              </a:ext>
            </a:extLst>
          </p:cNvPr>
          <p:cNvSpPr txBox="1">
            <a:spLocks/>
          </p:cNvSpPr>
          <p:nvPr/>
        </p:nvSpPr>
        <p:spPr>
          <a:xfrm>
            <a:off x="371475" y="1925026"/>
            <a:ext cx="10569876" cy="601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S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55D38C8-DBE0-4E1A-8DC5-3F8D162E2BB1}"/>
              </a:ext>
            </a:extLst>
          </p:cNvPr>
          <p:cNvSpPr txBox="1">
            <a:spLocks/>
          </p:cNvSpPr>
          <p:nvPr/>
        </p:nvSpPr>
        <p:spPr>
          <a:xfrm>
            <a:off x="356930" y="1925026"/>
            <a:ext cx="4344279" cy="214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По месту использования:</a:t>
            </a:r>
            <a:endParaRPr lang="en-US" dirty="0"/>
          </a:p>
          <a:p>
            <a:endParaRPr lang="ru-RU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ru-RU" sz="2000" dirty="0">
                <a:solidFill>
                  <a:schemeClr val="bg1"/>
                </a:solidFill>
                <a:effectLst/>
              </a:rPr>
              <a:t>В WHERE </a:t>
            </a:r>
            <a:r>
              <a:rPr lang="ru-RU" sz="2000" dirty="0">
                <a:solidFill>
                  <a:srgbClr val="FF0000"/>
                </a:solidFill>
                <a:effectLst/>
              </a:rPr>
              <a:t>(условия)</a:t>
            </a:r>
          </a:p>
          <a:p>
            <a:pPr marL="342900" indent="-342900">
              <a:buFontTx/>
              <a:buChar char="-"/>
            </a:pPr>
            <a:r>
              <a:rPr lang="ru-RU" sz="2000" dirty="0">
                <a:solidFill>
                  <a:schemeClr val="bg1"/>
                </a:solidFill>
                <a:effectLst/>
              </a:rPr>
              <a:t>В FROM </a:t>
            </a:r>
            <a:r>
              <a:rPr lang="ru-RU" sz="2000" dirty="0">
                <a:solidFill>
                  <a:srgbClr val="FF0000"/>
                </a:solidFill>
                <a:effectLst/>
              </a:rPr>
              <a:t>(как таблица)</a:t>
            </a:r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endParaRPr lang="ru-RU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ru-RU" dirty="0"/>
              <a:t>В SELECT </a:t>
            </a:r>
            <a:r>
              <a:rPr lang="ru-RU" dirty="0">
                <a:solidFill>
                  <a:srgbClr val="FF0000"/>
                </a:solidFill>
              </a:rPr>
              <a:t>(как столбец)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ru-RU" dirty="0"/>
              <a:t>В HAVING </a:t>
            </a:r>
            <a:r>
              <a:rPr lang="ru-RU" dirty="0">
                <a:solidFill>
                  <a:srgbClr val="FF0000"/>
                </a:solidFill>
              </a:rPr>
              <a:t>(условиях агрегации)</a:t>
            </a:r>
            <a:r>
              <a:rPr lang="en-US" dirty="0"/>
              <a:t>   </a:t>
            </a:r>
            <a:r>
              <a:rPr lang="en-US" sz="2000" dirty="0">
                <a:solidFill>
                  <a:schemeClr val="bg1"/>
                </a:solidFill>
                <a:effectLst/>
              </a:rPr>
              <a:t>       </a:t>
            </a:r>
          </a:p>
          <a:p>
            <a:pPr algn="just"/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AE54FFC-6943-4A75-8934-C8FCA3CE1E51}"/>
              </a:ext>
            </a:extLst>
          </p:cNvPr>
          <p:cNvSpPr txBox="1">
            <a:spLocks/>
          </p:cNvSpPr>
          <p:nvPr/>
        </p:nvSpPr>
        <p:spPr>
          <a:xfrm>
            <a:off x="5810660" y="2670965"/>
            <a:ext cx="5299483" cy="4071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S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0FD3C6F7-5D01-26FE-D54F-E6813CA7AE85}"/>
              </a:ext>
            </a:extLst>
          </p:cNvPr>
          <p:cNvSpPr txBox="1">
            <a:spLocks/>
          </p:cNvSpPr>
          <p:nvPr/>
        </p:nvSpPr>
        <p:spPr>
          <a:xfrm>
            <a:off x="5331101" y="1925026"/>
            <a:ext cx="5299483" cy="214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 количеству возвращаемых строк</a:t>
            </a:r>
            <a:r>
              <a:rPr lang="en-US" dirty="0"/>
              <a:t>:</a:t>
            </a:r>
          </a:p>
          <a:p>
            <a:endParaRPr lang="ru-RU" sz="2000" dirty="0">
              <a:solidFill>
                <a:schemeClr val="bg1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ru-RU" sz="2000" dirty="0">
                <a:solidFill>
                  <a:schemeClr val="bg1"/>
                </a:solidFill>
                <a:effectLst/>
              </a:rPr>
              <a:t>Скалярные</a:t>
            </a:r>
            <a:r>
              <a:rPr lang="en-US" sz="2000" dirty="0">
                <a:solidFill>
                  <a:schemeClr val="bg1"/>
                </a:solidFill>
                <a:effectLst/>
              </a:rPr>
              <a:t> </a:t>
            </a:r>
            <a:r>
              <a:rPr lang="en-US" sz="2000" dirty="0">
                <a:solidFill>
                  <a:srgbClr val="FF0000"/>
                </a:solidFill>
                <a:effectLst/>
              </a:rPr>
              <a:t>(</a:t>
            </a:r>
            <a:r>
              <a:rPr lang="ru-RU" sz="2000" dirty="0">
                <a:solidFill>
                  <a:srgbClr val="FF0000"/>
                </a:solidFill>
                <a:effectLst/>
              </a:rPr>
              <a:t>единственное значение)</a:t>
            </a:r>
            <a:endParaRPr lang="ru-RU" dirty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ru-RU" sz="2000" dirty="0">
                <a:solidFill>
                  <a:schemeClr val="bg1"/>
                </a:solidFill>
                <a:effectLst/>
              </a:rPr>
              <a:t>Однорядные</a:t>
            </a:r>
            <a:r>
              <a:rPr lang="ru-RU" dirty="0"/>
              <a:t> </a:t>
            </a:r>
            <a:r>
              <a:rPr lang="en-US" sz="2000" dirty="0">
                <a:solidFill>
                  <a:srgbClr val="FF0000"/>
                </a:solidFill>
                <a:effectLst/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LIMIT 1</a:t>
            </a:r>
            <a:r>
              <a:rPr lang="en-US" sz="2000" dirty="0">
                <a:solidFill>
                  <a:srgbClr val="FF0000"/>
                </a:solidFill>
                <a:effectLst/>
              </a:rPr>
              <a:t>)</a:t>
            </a:r>
            <a:endParaRPr lang="ru-RU" sz="2000" dirty="0">
              <a:solidFill>
                <a:srgbClr val="FF0000"/>
              </a:solidFill>
              <a:effectLst/>
            </a:endParaRPr>
          </a:p>
          <a:p>
            <a:pPr marL="342900" indent="-342900">
              <a:buFontTx/>
              <a:buChar char="-"/>
            </a:pPr>
            <a:r>
              <a:rPr lang="ru-RU" dirty="0"/>
              <a:t>Многорядные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LIMIT N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ru-RU" dirty="0"/>
              <a:t>Многоколоночные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ru-RU" dirty="0">
                <a:solidFill>
                  <a:srgbClr val="FF0000"/>
                </a:solidFill>
              </a:rPr>
              <a:t>несколько колонок)</a:t>
            </a:r>
          </a:p>
          <a:p>
            <a:pPr marL="342900" indent="-342900">
              <a:buFontTx/>
              <a:buChar char="-"/>
            </a:pPr>
            <a:endParaRPr lang="ru-RU" sz="2000" dirty="0">
              <a:solidFill>
                <a:schemeClr val="bg1"/>
              </a:solidFill>
              <a:effectLst/>
            </a:endParaRPr>
          </a:p>
          <a:p>
            <a:pPr algn="just"/>
            <a:endParaRPr lang="en-US" sz="2000" dirty="0">
              <a:solidFill>
                <a:schemeClr val="bg1"/>
              </a:solidFill>
              <a:effectLst/>
            </a:endParaRPr>
          </a:p>
          <a:p>
            <a:pPr algn="just"/>
            <a:endParaRPr lang="ru-RS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8BA8547C-BCB0-F6FE-0E1F-D6C26C7EF239}"/>
              </a:ext>
            </a:extLst>
          </p:cNvPr>
          <p:cNvSpPr txBox="1">
            <a:spLocks/>
          </p:cNvSpPr>
          <p:nvPr/>
        </p:nvSpPr>
        <p:spPr>
          <a:xfrm>
            <a:off x="2955369" y="4584540"/>
            <a:ext cx="5025473" cy="1681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 зависимости от внешнего запроса</a:t>
            </a:r>
            <a:r>
              <a:rPr lang="en-US" dirty="0"/>
              <a:t>:</a:t>
            </a:r>
            <a:endParaRPr lang="ru-RS"/>
          </a:p>
          <a:p>
            <a:endParaRPr lang="ru-RU" dirty="0"/>
          </a:p>
          <a:p>
            <a:pPr marL="342900" indent="-342900">
              <a:buFontTx/>
              <a:buChar char="-"/>
            </a:pPr>
            <a:r>
              <a:rPr lang="ru-RU" dirty="0"/>
              <a:t>Независимый </a:t>
            </a:r>
            <a:r>
              <a:rPr lang="ru-RU" dirty="0">
                <a:solidFill>
                  <a:srgbClr val="FF0000"/>
                </a:solidFill>
              </a:rPr>
              <a:t>подзапрос</a:t>
            </a:r>
          </a:p>
          <a:p>
            <a:pPr marL="342900" indent="-342900">
              <a:buFontTx/>
              <a:buChar char="-"/>
            </a:pPr>
            <a:r>
              <a:rPr lang="ru-RU" dirty="0"/>
              <a:t>Коррелированный </a:t>
            </a:r>
            <a:r>
              <a:rPr lang="ru-RU" dirty="0">
                <a:solidFill>
                  <a:srgbClr val="FF0000"/>
                </a:solidFill>
              </a:rPr>
              <a:t>подзапрос</a:t>
            </a:r>
          </a:p>
          <a:p>
            <a:pPr algn="just"/>
            <a:endParaRPr lang="en-US" sz="2000" dirty="0">
              <a:solidFill>
                <a:schemeClr val="bg1"/>
              </a:solidFill>
              <a:effectLst/>
            </a:endParaRPr>
          </a:p>
          <a:p>
            <a:pPr algn="just"/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171</Words>
  <Application>Microsoft Macintosh PowerPoint</Application>
  <PresentationFormat>Широкоэкранный</PresentationFormat>
  <Paragraphs>40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42</cp:revision>
  <dcterms:created xsi:type="dcterms:W3CDTF">2025-08-19T06:56:36Z</dcterms:created>
  <dcterms:modified xsi:type="dcterms:W3CDTF">2026-10-09T08:08:10Z</dcterms:modified>
</cp:coreProperties>
</file>