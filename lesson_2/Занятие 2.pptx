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09" r:id="rId4"/>
    <p:sldId id="344" r:id="rId5"/>
    <p:sldId id="346" r:id="rId6"/>
    <p:sldId id="348" r:id="rId7"/>
    <p:sldId id="34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Основы </a:t>
            </a:r>
            <a:r>
              <a:rPr lang="en-US" dirty="0"/>
              <a:t>SQL. </a:t>
            </a:r>
            <a:r>
              <a:rPr lang="ru-RU" dirty="0"/>
              <a:t>Простые </a:t>
            </a:r>
            <a:r>
              <a:rPr lang="en-US" dirty="0"/>
              <a:t>SELECT-</a:t>
            </a:r>
            <a:r>
              <a:rPr lang="ru-RU" dirty="0"/>
              <a:t>запросы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410629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Смотреть шире. Существуют диалекты, которые наделяют язык необходимыми свойствами. Среди них:</a:t>
            </a:r>
          </a:p>
          <a:p>
            <a:r>
              <a:rPr lang="en-US" dirty="0"/>
              <a:t>- T-SQL (MS SQL SERVER)</a:t>
            </a:r>
          </a:p>
          <a:p>
            <a:r>
              <a:rPr lang="en-US" dirty="0"/>
              <a:t>- PL/SQL (ORACLE)</a:t>
            </a:r>
          </a:p>
          <a:p>
            <a:r>
              <a:rPr lang="en-US" dirty="0"/>
              <a:t>- PL/</a:t>
            </a:r>
            <a:r>
              <a:rPr lang="en-US" dirty="0" err="1"/>
              <a:t>pgSQL</a:t>
            </a:r>
            <a:r>
              <a:rPr lang="en-US" dirty="0"/>
              <a:t> (PostgreSQL)</a:t>
            </a:r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 что является? Как быть? Ведь в названии курса написано другое!</a:t>
            </a:r>
            <a:endParaRPr lang="ru-RS" dirty="0"/>
          </a:p>
          <a:p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938241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Ответ:</a:t>
            </a:r>
          </a:p>
          <a:p>
            <a:r>
              <a:rPr lang="ru-RU" dirty="0"/>
              <a:t>- Выборка точечных данных</a:t>
            </a:r>
          </a:p>
          <a:p>
            <a:r>
              <a:rPr lang="ru-RU" dirty="0"/>
              <a:t>- Построение отчетности</a:t>
            </a:r>
          </a:p>
          <a:p>
            <a:r>
              <a:rPr lang="ru-RU" dirty="0"/>
              <a:t>- Проведение различных тестов</a:t>
            </a:r>
          </a:p>
          <a:p>
            <a:r>
              <a:rPr lang="ru-RU" dirty="0"/>
              <a:t>- Оперативный доступ к информации</a:t>
            </a:r>
          </a:p>
          <a:p>
            <a:r>
              <a:rPr lang="ru-RU" dirty="0"/>
              <a:t>- Обработка больших объемов данных в кратчайшие сроки</a:t>
            </a:r>
            <a:endParaRPr lang="ru-RS" dirty="0"/>
          </a:p>
          <a:p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Вот ведь круто! А зачем все это?</a:t>
            </a:r>
            <a:endParaRPr lang="ru-RS" dirty="0"/>
          </a:p>
          <a:p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Является ли </a:t>
            </a:r>
            <a:r>
              <a:rPr lang="en-US" dirty="0">
                <a:solidFill>
                  <a:schemeClr val="bg1"/>
                </a:solidFill>
              </a:rPr>
              <a:t>SQL </a:t>
            </a:r>
            <a:r>
              <a:rPr lang="ru-RU" dirty="0">
                <a:solidFill>
                  <a:srgbClr val="FF0000"/>
                </a:solidFill>
              </a:rPr>
              <a:t>языком программирования?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SQL – Structed Query Language. </a:t>
            </a:r>
            <a:r>
              <a:rPr lang="ru-RU" dirty="0"/>
              <a:t>По-русски – язык запросов. Является декларативным языком, т.е. с его помощью описывается то, что я хочу получить, а не то, как это сделать. Следовательно, ответ – чистый </a:t>
            </a:r>
            <a:r>
              <a:rPr lang="en-US" dirty="0"/>
              <a:t>SQL</a:t>
            </a:r>
            <a:r>
              <a:rPr lang="ru-RU" dirty="0"/>
              <a:t> не является языком программирования.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Структура </a:t>
            </a:r>
            <a:r>
              <a:rPr lang="en-US" dirty="0"/>
              <a:t>SQL </a:t>
            </a:r>
            <a:r>
              <a:rPr lang="ru-RU" dirty="0"/>
              <a:t>запроса</a:t>
            </a:r>
            <a:endParaRPr lang="ru-RS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702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Основные операторы, используемые в </a:t>
            </a:r>
            <a:r>
              <a:rPr lang="en-US" dirty="0"/>
              <a:t>SQL </a:t>
            </a:r>
            <a:r>
              <a:rPr lang="ru-RU" dirty="0"/>
              <a:t>- запросах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1287962"/>
              </p:ext>
            </p:extLst>
          </p:nvPr>
        </p:nvGraphicFramePr>
        <p:xfrm>
          <a:off x="1274879" y="2989638"/>
          <a:ext cx="8538290" cy="3433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104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4585186">
                  <a:extLst>
                    <a:ext uri="{9D8B030D-6E8A-4147-A177-3AD203B41FA5}">
                      <a16:colId xmlns:a16="http://schemas.microsoft.com/office/drawing/2014/main" val="704054673"/>
                    </a:ext>
                  </a:extLst>
                </a:gridCol>
              </a:tblGrid>
              <a:tr h="3415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Оператор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column1, column2 </a:t>
                      </a:r>
                      <a:endParaRPr lang="ru-RS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какие столбцы выбрать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table</a:t>
                      </a:r>
                      <a:endParaRPr lang="ru-RS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из какой таблицы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 condition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условия фильтрации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GROUP BY column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 группировка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65502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HAVING condition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фильтрация групп 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331611"/>
                  </a:ext>
                </a:extLst>
              </a:tr>
              <a:tr h="34153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 BY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column_name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сортировка выводимых данных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27220"/>
                  </a:ext>
                </a:extLst>
              </a:tr>
              <a:tr h="46105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LIMIT n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ограничение количества выводимых строк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49816"/>
                  </a:ext>
                </a:extLst>
              </a:tr>
              <a:tr h="58184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 m</a:t>
                      </a:r>
                      <a:endParaRPr lang="ru-RU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смещение на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m-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строк относительно первой строки</a:t>
                      </a:r>
                      <a:endParaRPr lang="ru-R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87C2E3-CC98-0D0E-CC2D-1140A9662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7550" y="3448718"/>
            <a:ext cx="9330633" cy="2575564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r>
              <a:rPr lang="ru-RU" dirty="0"/>
              <a:t>Команда для выбора данных из таблицы. Можно выбирать конкретные столбцы или все (`*`).</a:t>
            </a:r>
            <a:r>
              <a:rPr lang="en-US" dirty="0"/>
              <a:t> </a:t>
            </a:r>
            <a:r>
              <a:rPr lang="ru-RU" dirty="0"/>
              <a:t>Например</a:t>
            </a:r>
            <a:r>
              <a:rPr lang="en-US" dirty="0"/>
              <a:t> SELECT * FROM table </a:t>
            </a:r>
            <a:r>
              <a:rPr lang="ru-RU" dirty="0"/>
              <a:t>или </a:t>
            </a:r>
            <a:r>
              <a:rPr lang="en-US" dirty="0"/>
              <a:t>SELECT column1, column2 FROM table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</a:p>
          <a:p>
            <a:r>
              <a:rPr lang="ru-RU" dirty="0"/>
              <a:t>Указывает таблицу, из которой выбираются данные. Указание таблицы идет через указание БД, схемы и имени таблицы. Например </a:t>
            </a:r>
            <a:r>
              <a:rPr lang="en-US" dirty="0"/>
              <a:t>FROM </a:t>
            </a:r>
            <a:r>
              <a:rPr lang="en-US" dirty="0" err="1"/>
              <a:t>students.public.subjects</a:t>
            </a:r>
            <a:endParaRPr lang="ru-RU" dirty="0"/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r>
              <a:rPr lang="ru-RU" dirty="0"/>
              <a:t>Фильтрация строк по условию. Поддерживает операторы сравнения (`=`, `!=`, `&gt;`, `&lt;`, `&gt;=`, `&lt;=`), логические операторы (`AND`, `OR`, `NOT`), а также специальные операторы (`IN`, `BETWEEN`, `LIKE`, `IS NULL`).</a:t>
            </a:r>
            <a:endParaRPr lang="en-US" dirty="0"/>
          </a:p>
          <a:p>
            <a:r>
              <a:rPr lang="ru-RU" dirty="0"/>
              <a:t>Например </a:t>
            </a:r>
            <a:r>
              <a:rPr lang="en-US" dirty="0"/>
              <a:t>SELECT id FROM </a:t>
            </a:r>
            <a:r>
              <a:rPr lang="en-US" dirty="0" err="1"/>
              <a:t>public.customers</a:t>
            </a:r>
            <a:r>
              <a:rPr lang="en-US" dirty="0"/>
              <a:t> WHERE age &gt; 18.</a:t>
            </a:r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U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0AA7C9F-0DB8-9F70-AFC9-C446531959D2}"/>
              </a:ext>
            </a:extLst>
          </p:cNvPr>
          <p:cNvSpPr/>
          <p:nvPr/>
        </p:nvSpPr>
        <p:spPr>
          <a:xfrm>
            <a:off x="390684" y="3448718"/>
            <a:ext cx="670560" cy="670560"/>
          </a:xfrm>
          <a:prstGeom prst="ellipse">
            <a:avLst/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grpSp>
        <p:nvGrpSpPr>
          <p:cNvPr id="11" name="Рисунок 22">
            <a:extLst>
              <a:ext uri="{FF2B5EF4-FFF2-40B4-BE49-F238E27FC236}">
                <a16:creationId xmlns:a16="http://schemas.microsoft.com/office/drawing/2014/main" id="{BD20FFE4-E30F-B7B0-B710-209DD091F471}"/>
              </a:ext>
            </a:extLst>
          </p:cNvPr>
          <p:cNvGrpSpPr/>
          <p:nvPr/>
        </p:nvGrpSpPr>
        <p:grpSpPr>
          <a:xfrm>
            <a:off x="547757" y="3602946"/>
            <a:ext cx="345418" cy="326630"/>
            <a:chOff x="5528877" y="4553325"/>
            <a:chExt cx="1174498" cy="1110615"/>
          </a:xfrm>
          <a:solidFill>
            <a:srgbClr val="FFF654"/>
          </a:solidFill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F81F9A2-9A12-EE7A-9C10-67FB9CDE6114}"/>
                </a:ext>
              </a:extLst>
            </p:cNvPr>
            <p:cNvSpPr/>
            <p:nvPr/>
          </p:nvSpPr>
          <p:spPr>
            <a:xfrm>
              <a:off x="5897495" y="4553325"/>
              <a:ext cx="438150" cy="163829"/>
            </a:xfrm>
            <a:custGeom>
              <a:avLst/>
              <a:gdLst>
                <a:gd name="connsiteX0" fmla="*/ 80010 w 438150"/>
                <a:gd name="connsiteY0" fmla="*/ 97155 h 163829"/>
                <a:gd name="connsiteX1" fmla="*/ 81915 w 438150"/>
                <a:gd name="connsiteY1" fmla="*/ 95250 h 163829"/>
                <a:gd name="connsiteX2" fmla="*/ 356235 w 438150"/>
                <a:gd name="connsiteY2" fmla="*/ 95250 h 163829"/>
                <a:gd name="connsiteX3" fmla="*/ 358140 w 438150"/>
                <a:gd name="connsiteY3" fmla="*/ 97155 h 163829"/>
                <a:gd name="connsiteX4" fmla="*/ 358140 w 438150"/>
                <a:gd name="connsiteY4" fmla="*/ 163830 h 163829"/>
                <a:gd name="connsiteX5" fmla="*/ 438150 w 438150"/>
                <a:gd name="connsiteY5" fmla="*/ 163830 h 163829"/>
                <a:gd name="connsiteX6" fmla="*/ 438150 w 438150"/>
                <a:gd name="connsiteY6" fmla="*/ 37148 h 163829"/>
                <a:gd name="connsiteX7" fmla="*/ 415290 w 438150"/>
                <a:gd name="connsiteY7" fmla="*/ 14288 h 163829"/>
                <a:gd name="connsiteX8" fmla="*/ 20955 w 438150"/>
                <a:gd name="connsiteY8" fmla="*/ 14288 h 163829"/>
                <a:gd name="connsiteX9" fmla="*/ 0 w 438150"/>
                <a:gd name="connsiteY9" fmla="*/ 37148 h 163829"/>
                <a:gd name="connsiteX10" fmla="*/ 0 w 438150"/>
                <a:gd name="connsiteY10" fmla="*/ 163830 h 163829"/>
                <a:gd name="connsiteX11" fmla="*/ 80963 w 438150"/>
                <a:gd name="connsiteY11" fmla="*/ 163830 h 163829"/>
                <a:gd name="connsiteX12" fmla="*/ 80963 w 438150"/>
                <a:gd name="connsiteY12" fmla="*/ 9715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8150" h="163829">
                  <a:moveTo>
                    <a:pt x="80010" y="97155"/>
                  </a:moveTo>
                  <a:cubicBezTo>
                    <a:pt x="80010" y="96203"/>
                    <a:pt x="80963" y="95250"/>
                    <a:pt x="81915" y="95250"/>
                  </a:cubicBezTo>
                  <a:lnTo>
                    <a:pt x="356235" y="95250"/>
                  </a:lnTo>
                  <a:cubicBezTo>
                    <a:pt x="357188" y="95250"/>
                    <a:pt x="358140" y="96203"/>
                    <a:pt x="358140" y="97155"/>
                  </a:cubicBezTo>
                  <a:lnTo>
                    <a:pt x="358140" y="163830"/>
                  </a:lnTo>
                  <a:lnTo>
                    <a:pt x="438150" y="163830"/>
                  </a:lnTo>
                  <a:lnTo>
                    <a:pt x="438150" y="37148"/>
                  </a:lnTo>
                  <a:cubicBezTo>
                    <a:pt x="438150" y="24765"/>
                    <a:pt x="427673" y="14288"/>
                    <a:pt x="415290" y="14288"/>
                  </a:cubicBezTo>
                  <a:cubicBezTo>
                    <a:pt x="283845" y="-4763"/>
                    <a:pt x="152400" y="-4763"/>
                    <a:pt x="20955" y="14288"/>
                  </a:cubicBezTo>
                  <a:cubicBezTo>
                    <a:pt x="9525" y="14288"/>
                    <a:pt x="0" y="24765"/>
                    <a:pt x="0" y="37148"/>
                  </a:cubicBezTo>
                  <a:lnTo>
                    <a:pt x="0" y="163830"/>
                  </a:lnTo>
                  <a:lnTo>
                    <a:pt x="80963" y="163830"/>
                  </a:lnTo>
                  <a:lnTo>
                    <a:pt x="80963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3BB6EA9-F89B-2378-905C-2B6E3604CF24}"/>
                </a:ext>
              </a:extLst>
            </p:cNvPr>
            <p:cNvSpPr/>
            <p:nvPr/>
          </p:nvSpPr>
          <p:spPr>
            <a:xfrm>
              <a:off x="5553642" y="5301990"/>
              <a:ext cx="1126807" cy="361950"/>
            </a:xfrm>
            <a:custGeom>
              <a:avLst/>
              <a:gdLst>
                <a:gd name="connsiteX0" fmla="*/ 0 w 1126807"/>
                <a:gd name="connsiteY0" fmla="*/ 0 h 361950"/>
                <a:gd name="connsiteX1" fmla="*/ 0 w 1126807"/>
                <a:gd name="connsiteY1" fmla="*/ 340042 h 361950"/>
                <a:gd name="connsiteX2" fmla="*/ 22860 w 1126807"/>
                <a:gd name="connsiteY2" fmla="*/ 361950 h 361950"/>
                <a:gd name="connsiteX3" fmla="*/ 1103948 w 1126807"/>
                <a:gd name="connsiteY3" fmla="*/ 361950 h 361950"/>
                <a:gd name="connsiteX4" fmla="*/ 1126808 w 1126807"/>
                <a:gd name="connsiteY4" fmla="*/ 340042 h 361950"/>
                <a:gd name="connsiteX5" fmla="*/ 1126808 w 1126807"/>
                <a:gd name="connsiteY5" fmla="*/ 952 h 361950"/>
                <a:gd name="connsiteX6" fmla="*/ 580073 w 1126807"/>
                <a:gd name="connsiteY6" fmla="*/ 77152 h 361950"/>
                <a:gd name="connsiteX7" fmla="*/ 0 w 1126807"/>
                <a:gd name="connsiteY7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6807" h="361950">
                  <a:moveTo>
                    <a:pt x="0" y="0"/>
                  </a:moveTo>
                  <a:lnTo>
                    <a:pt x="0" y="340042"/>
                  </a:lnTo>
                  <a:cubicBezTo>
                    <a:pt x="0" y="352425"/>
                    <a:pt x="10477" y="361950"/>
                    <a:pt x="22860" y="361950"/>
                  </a:cubicBezTo>
                  <a:lnTo>
                    <a:pt x="1103948" y="361950"/>
                  </a:lnTo>
                  <a:cubicBezTo>
                    <a:pt x="1116330" y="361950"/>
                    <a:pt x="1126808" y="352425"/>
                    <a:pt x="1126808" y="340042"/>
                  </a:cubicBezTo>
                  <a:lnTo>
                    <a:pt x="1126808" y="952"/>
                  </a:lnTo>
                  <a:cubicBezTo>
                    <a:pt x="935355" y="57150"/>
                    <a:pt x="746760" y="77152"/>
                    <a:pt x="580073" y="77152"/>
                  </a:cubicBezTo>
                  <a:cubicBezTo>
                    <a:pt x="304800" y="77152"/>
                    <a:pt x="85725" y="2476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C78349F9-8D88-7D18-EFE3-127749000F29}"/>
                </a:ext>
              </a:extLst>
            </p:cNvPr>
            <p:cNvSpPr/>
            <p:nvPr/>
          </p:nvSpPr>
          <p:spPr>
            <a:xfrm>
              <a:off x="5528877" y="4760017"/>
              <a:ext cx="1174498" cy="552450"/>
            </a:xfrm>
            <a:custGeom>
              <a:avLst/>
              <a:gdLst>
                <a:gd name="connsiteX0" fmla="*/ 1155383 w 1174498"/>
                <a:gd name="connsiteY0" fmla="*/ 0 h 552450"/>
                <a:gd name="connsiteX1" fmla="*/ 20003 w 1174498"/>
                <a:gd name="connsiteY1" fmla="*/ 0 h 552450"/>
                <a:gd name="connsiteX2" fmla="*/ 0 w 1174498"/>
                <a:gd name="connsiteY2" fmla="*/ 20003 h 552450"/>
                <a:gd name="connsiteX3" fmla="*/ 0 w 1174498"/>
                <a:gd name="connsiteY3" fmla="*/ 425768 h 552450"/>
                <a:gd name="connsiteX4" fmla="*/ 39053 w 1174498"/>
                <a:gd name="connsiteY4" fmla="*/ 478155 h 552450"/>
                <a:gd name="connsiteX5" fmla="*/ 528638 w 1174498"/>
                <a:gd name="connsiteY5" fmla="*/ 551498 h 552450"/>
                <a:gd name="connsiteX6" fmla="*/ 528638 w 1174498"/>
                <a:gd name="connsiteY6" fmla="*/ 520065 h 552450"/>
                <a:gd name="connsiteX7" fmla="*/ 586740 w 1174498"/>
                <a:gd name="connsiteY7" fmla="*/ 461963 h 552450"/>
                <a:gd name="connsiteX8" fmla="*/ 627698 w 1174498"/>
                <a:gd name="connsiteY8" fmla="*/ 479107 h 552450"/>
                <a:gd name="connsiteX9" fmla="*/ 644843 w 1174498"/>
                <a:gd name="connsiteY9" fmla="*/ 520065 h 552450"/>
                <a:gd name="connsiteX10" fmla="*/ 644843 w 1174498"/>
                <a:gd name="connsiteY10" fmla="*/ 552450 h 552450"/>
                <a:gd name="connsiteX11" fmla="*/ 1135380 w 1174498"/>
                <a:gd name="connsiteY11" fmla="*/ 478155 h 552450"/>
                <a:gd name="connsiteX12" fmla="*/ 1174433 w 1174498"/>
                <a:gd name="connsiteY12" fmla="*/ 425768 h 552450"/>
                <a:gd name="connsiteX13" fmla="*/ 1174433 w 1174498"/>
                <a:gd name="connsiteY13" fmla="*/ 20003 h 552450"/>
                <a:gd name="connsiteX14" fmla="*/ 1155383 w 1174498"/>
                <a:gd name="connsiteY14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498" h="552450">
                  <a:moveTo>
                    <a:pt x="1155383" y="0"/>
                  </a:moveTo>
                  <a:lnTo>
                    <a:pt x="20003" y="0"/>
                  </a:lnTo>
                  <a:cubicBezTo>
                    <a:pt x="9525" y="0"/>
                    <a:pt x="0" y="8572"/>
                    <a:pt x="0" y="20003"/>
                  </a:cubicBezTo>
                  <a:lnTo>
                    <a:pt x="0" y="425768"/>
                  </a:lnTo>
                  <a:cubicBezTo>
                    <a:pt x="0" y="450532"/>
                    <a:pt x="16193" y="471488"/>
                    <a:pt x="39053" y="478155"/>
                  </a:cubicBezTo>
                  <a:cubicBezTo>
                    <a:pt x="115253" y="500063"/>
                    <a:pt x="297180" y="543878"/>
                    <a:pt x="528638" y="551498"/>
                  </a:cubicBezTo>
                  <a:lnTo>
                    <a:pt x="528638" y="520065"/>
                  </a:lnTo>
                  <a:cubicBezTo>
                    <a:pt x="528638" y="488632"/>
                    <a:pt x="554355" y="461963"/>
                    <a:pt x="586740" y="461963"/>
                  </a:cubicBezTo>
                  <a:cubicBezTo>
                    <a:pt x="602933" y="461963"/>
                    <a:pt x="617220" y="468630"/>
                    <a:pt x="627698" y="479107"/>
                  </a:cubicBezTo>
                  <a:cubicBezTo>
                    <a:pt x="638175" y="489585"/>
                    <a:pt x="644843" y="503873"/>
                    <a:pt x="644843" y="520065"/>
                  </a:cubicBezTo>
                  <a:lnTo>
                    <a:pt x="644843" y="552450"/>
                  </a:lnTo>
                  <a:cubicBezTo>
                    <a:pt x="797243" y="549593"/>
                    <a:pt x="964883" y="529590"/>
                    <a:pt x="1135380" y="478155"/>
                  </a:cubicBezTo>
                  <a:cubicBezTo>
                    <a:pt x="1158240" y="471488"/>
                    <a:pt x="1174433" y="449580"/>
                    <a:pt x="1174433" y="425768"/>
                  </a:cubicBezTo>
                  <a:lnTo>
                    <a:pt x="1174433" y="20003"/>
                  </a:lnTo>
                  <a:cubicBezTo>
                    <a:pt x="1175385" y="8572"/>
                    <a:pt x="1165860" y="0"/>
                    <a:pt x="115538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Основные команды: </a:t>
            </a:r>
            <a:r>
              <a:rPr lang="ru-RU" dirty="0">
                <a:solidFill>
                  <a:srgbClr val="FF0000"/>
                </a:solidFill>
              </a:rPr>
              <a:t>SELECT, FROM, WHERE</a:t>
            </a:r>
            <a:endParaRPr lang="ru-RS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Без них вряд ли что-то получится. Без </a:t>
            </a:r>
            <a:r>
              <a:rPr lang="en-US" dirty="0"/>
              <a:t>Select – </a:t>
            </a:r>
            <a:r>
              <a:rPr lang="ru-RU" dirty="0"/>
              <a:t>точно. Кстати, самый короткий запрос, который можно реализовать, выглядит так –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1</a:t>
            </a:r>
            <a:r>
              <a:rPr lang="en-US" dirty="0"/>
              <a:t>.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202659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87C2E3-CC98-0D0E-CC2D-1140A9662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7550" y="3448718"/>
            <a:ext cx="9330633" cy="2575564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</a:p>
          <a:p>
            <a:r>
              <a:rPr lang="ru-RU" dirty="0"/>
              <a:t>Позволяет сортировать результаты по одному или нескольким столбцам. По умолчанию сортировка по возрастанию (`ASC`), можно указать `DESC` для сортировки по убыванию.</a:t>
            </a:r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</a:p>
          <a:p>
            <a:r>
              <a:rPr lang="ru-RU" dirty="0"/>
              <a:t>Ограничивает количество возвращаемых строк.</a:t>
            </a:r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</a:p>
          <a:p>
            <a:r>
              <a:rPr lang="ru-RU" dirty="0"/>
              <a:t>Пропускает указанное количество строк перед возвратом результатов. Часто используется для пагинации.</a:t>
            </a:r>
            <a:endParaRPr lang="ru-R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0AA7C9F-0DB8-9F70-AFC9-C446531959D2}"/>
              </a:ext>
            </a:extLst>
          </p:cNvPr>
          <p:cNvSpPr/>
          <p:nvPr/>
        </p:nvSpPr>
        <p:spPr>
          <a:xfrm>
            <a:off x="390684" y="3448718"/>
            <a:ext cx="670560" cy="670560"/>
          </a:xfrm>
          <a:prstGeom prst="ellipse">
            <a:avLst/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grpSp>
        <p:nvGrpSpPr>
          <p:cNvPr id="11" name="Рисунок 22">
            <a:extLst>
              <a:ext uri="{FF2B5EF4-FFF2-40B4-BE49-F238E27FC236}">
                <a16:creationId xmlns:a16="http://schemas.microsoft.com/office/drawing/2014/main" id="{BD20FFE4-E30F-B7B0-B710-209DD091F471}"/>
              </a:ext>
            </a:extLst>
          </p:cNvPr>
          <p:cNvGrpSpPr/>
          <p:nvPr/>
        </p:nvGrpSpPr>
        <p:grpSpPr>
          <a:xfrm>
            <a:off x="547757" y="3602946"/>
            <a:ext cx="345418" cy="326630"/>
            <a:chOff x="5528877" y="4553325"/>
            <a:chExt cx="1174498" cy="1110615"/>
          </a:xfrm>
          <a:solidFill>
            <a:srgbClr val="FFF654"/>
          </a:solidFill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F81F9A2-9A12-EE7A-9C10-67FB9CDE6114}"/>
                </a:ext>
              </a:extLst>
            </p:cNvPr>
            <p:cNvSpPr/>
            <p:nvPr/>
          </p:nvSpPr>
          <p:spPr>
            <a:xfrm>
              <a:off x="5897495" y="4553325"/>
              <a:ext cx="438150" cy="163829"/>
            </a:xfrm>
            <a:custGeom>
              <a:avLst/>
              <a:gdLst>
                <a:gd name="connsiteX0" fmla="*/ 80010 w 438150"/>
                <a:gd name="connsiteY0" fmla="*/ 97155 h 163829"/>
                <a:gd name="connsiteX1" fmla="*/ 81915 w 438150"/>
                <a:gd name="connsiteY1" fmla="*/ 95250 h 163829"/>
                <a:gd name="connsiteX2" fmla="*/ 356235 w 438150"/>
                <a:gd name="connsiteY2" fmla="*/ 95250 h 163829"/>
                <a:gd name="connsiteX3" fmla="*/ 358140 w 438150"/>
                <a:gd name="connsiteY3" fmla="*/ 97155 h 163829"/>
                <a:gd name="connsiteX4" fmla="*/ 358140 w 438150"/>
                <a:gd name="connsiteY4" fmla="*/ 163830 h 163829"/>
                <a:gd name="connsiteX5" fmla="*/ 438150 w 438150"/>
                <a:gd name="connsiteY5" fmla="*/ 163830 h 163829"/>
                <a:gd name="connsiteX6" fmla="*/ 438150 w 438150"/>
                <a:gd name="connsiteY6" fmla="*/ 37148 h 163829"/>
                <a:gd name="connsiteX7" fmla="*/ 415290 w 438150"/>
                <a:gd name="connsiteY7" fmla="*/ 14288 h 163829"/>
                <a:gd name="connsiteX8" fmla="*/ 20955 w 438150"/>
                <a:gd name="connsiteY8" fmla="*/ 14288 h 163829"/>
                <a:gd name="connsiteX9" fmla="*/ 0 w 438150"/>
                <a:gd name="connsiteY9" fmla="*/ 37148 h 163829"/>
                <a:gd name="connsiteX10" fmla="*/ 0 w 438150"/>
                <a:gd name="connsiteY10" fmla="*/ 163830 h 163829"/>
                <a:gd name="connsiteX11" fmla="*/ 80963 w 438150"/>
                <a:gd name="connsiteY11" fmla="*/ 163830 h 163829"/>
                <a:gd name="connsiteX12" fmla="*/ 80963 w 438150"/>
                <a:gd name="connsiteY12" fmla="*/ 9715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8150" h="163829">
                  <a:moveTo>
                    <a:pt x="80010" y="97155"/>
                  </a:moveTo>
                  <a:cubicBezTo>
                    <a:pt x="80010" y="96203"/>
                    <a:pt x="80963" y="95250"/>
                    <a:pt x="81915" y="95250"/>
                  </a:cubicBezTo>
                  <a:lnTo>
                    <a:pt x="356235" y="95250"/>
                  </a:lnTo>
                  <a:cubicBezTo>
                    <a:pt x="357188" y="95250"/>
                    <a:pt x="358140" y="96203"/>
                    <a:pt x="358140" y="97155"/>
                  </a:cubicBezTo>
                  <a:lnTo>
                    <a:pt x="358140" y="163830"/>
                  </a:lnTo>
                  <a:lnTo>
                    <a:pt x="438150" y="163830"/>
                  </a:lnTo>
                  <a:lnTo>
                    <a:pt x="438150" y="37148"/>
                  </a:lnTo>
                  <a:cubicBezTo>
                    <a:pt x="438150" y="24765"/>
                    <a:pt x="427673" y="14288"/>
                    <a:pt x="415290" y="14288"/>
                  </a:cubicBezTo>
                  <a:cubicBezTo>
                    <a:pt x="283845" y="-4763"/>
                    <a:pt x="152400" y="-4763"/>
                    <a:pt x="20955" y="14288"/>
                  </a:cubicBezTo>
                  <a:cubicBezTo>
                    <a:pt x="9525" y="14288"/>
                    <a:pt x="0" y="24765"/>
                    <a:pt x="0" y="37148"/>
                  </a:cubicBezTo>
                  <a:lnTo>
                    <a:pt x="0" y="163830"/>
                  </a:lnTo>
                  <a:lnTo>
                    <a:pt x="80963" y="163830"/>
                  </a:lnTo>
                  <a:lnTo>
                    <a:pt x="80963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3BB6EA9-F89B-2378-905C-2B6E3604CF24}"/>
                </a:ext>
              </a:extLst>
            </p:cNvPr>
            <p:cNvSpPr/>
            <p:nvPr/>
          </p:nvSpPr>
          <p:spPr>
            <a:xfrm>
              <a:off x="5553642" y="5301990"/>
              <a:ext cx="1126807" cy="361950"/>
            </a:xfrm>
            <a:custGeom>
              <a:avLst/>
              <a:gdLst>
                <a:gd name="connsiteX0" fmla="*/ 0 w 1126807"/>
                <a:gd name="connsiteY0" fmla="*/ 0 h 361950"/>
                <a:gd name="connsiteX1" fmla="*/ 0 w 1126807"/>
                <a:gd name="connsiteY1" fmla="*/ 340042 h 361950"/>
                <a:gd name="connsiteX2" fmla="*/ 22860 w 1126807"/>
                <a:gd name="connsiteY2" fmla="*/ 361950 h 361950"/>
                <a:gd name="connsiteX3" fmla="*/ 1103948 w 1126807"/>
                <a:gd name="connsiteY3" fmla="*/ 361950 h 361950"/>
                <a:gd name="connsiteX4" fmla="*/ 1126808 w 1126807"/>
                <a:gd name="connsiteY4" fmla="*/ 340042 h 361950"/>
                <a:gd name="connsiteX5" fmla="*/ 1126808 w 1126807"/>
                <a:gd name="connsiteY5" fmla="*/ 952 h 361950"/>
                <a:gd name="connsiteX6" fmla="*/ 580073 w 1126807"/>
                <a:gd name="connsiteY6" fmla="*/ 77152 h 361950"/>
                <a:gd name="connsiteX7" fmla="*/ 0 w 1126807"/>
                <a:gd name="connsiteY7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6807" h="361950">
                  <a:moveTo>
                    <a:pt x="0" y="0"/>
                  </a:moveTo>
                  <a:lnTo>
                    <a:pt x="0" y="340042"/>
                  </a:lnTo>
                  <a:cubicBezTo>
                    <a:pt x="0" y="352425"/>
                    <a:pt x="10477" y="361950"/>
                    <a:pt x="22860" y="361950"/>
                  </a:cubicBezTo>
                  <a:lnTo>
                    <a:pt x="1103948" y="361950"/>
                  </a:lnTo>
                  <a:cubicBezTo>
                    <a:pt x="1116330" y="361950"/>
                    <a:pt x="1126808" y="352425"/>
                    <a:pt x="1126808" y="340042"/>
                  </a:cubicBezTo>
                  <a:lnTo>
                    <a:pt x="1126808" y="952"/>
                  </a:lnTo>
                  <a:cubicBezTo>
                    <a:pt x="935355" y="57150"/>
                    <a:pt x="746760" y="77152"/>
                    <a:pt x="580073" y="77152"/>
                  </a:cubicBezTo>
                  <a:cubicBezTo>
                    <a:pt x="304800" y="77152"/>
                    <a:pt x="85725" y="2476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C78349F9-8D88-7D18-EFE3-127749000F29}"/>
                </a:ext>
              </a:extLst>
            </p:cNvPr>
            <p:cNvSpPr/>
            <p:nvPr/>
          </p:nvSpPr>
          <p:spPr>
            <a:xfrm>
              <a:off x="5528877" y="4760017"/>
              <a:ext cx="1174498" cy="552450"/>
            </a:xfrm>
            <a:custGeom>
              <a:avLst/>
              <a:gdLst>
                <a:gd name="connsiteX0" fmla="*/ 1155383 w 1174498"/>
                <a:gd name="connsiteY0" fmla="*/ 0 h 552450"/>
                <a:gd name="connsiteX1" fmla="*/ 20003 w 1174498"/>
                <a:gd name="connsiteY1" fmla="*/ 0 h 552450"/>
                <a:gd name="connsiteX2" fmla="*/ 0 w 1174498"/>
                <a:gd name="connsiteY2" fmla="*/ 20003 h 552450"/>
                <a:gd name="connsiteX3" fmla="*/ 0 w 1174498"/>
                <a:gd name="connsiteY3" fmla="*/ 425768 h 552450"/>
                <a:gd name="connsiteX4" fmla="*/ 39053 w 1174498"/>
                <a:gd name="connsiteY4" fmla="*/ 478155 h 552450"/>
                <a:gd name="connsiteX5" fmla="*/ 528638 w 1174498"/>
                <a:gd name="connsiteY5" fmla="*/ 551498 h 552450"/>
                <a:gd name="connsiteX6" fmla="*/ 528638 w 1174498"/>
                <a:gd name="connsiteY6" fmla="*/ 520065 h 552450"/>
                <a:gd name="connsiteX7" fmla="*/ 586740 w 1174498"/>
                <a:gd name="connsiteY7" fmla="*/ 461963 h 552450"/>
                <a:gd name="connsiteX8" fmla="*/ 627698 w 1174498"/>
                <a:gd name="connsiteY8" fmla="*/ 479107 h 552450"/>
                <a:gd name="connsiteX9" fmla="*/ 644843 w 1174498"/>
                <a:gd name="connsiteY9" fmla="*/ 520065 h 552450"/>
                <a:gd name="connsiteX10" fmla="*/ 644843 w 1174498"/>
                <a:gd name="connsiteY10" fmla="*/ 552450 h 552450"/>
                <a:gd name="connsiteX11" fmla="*/ 1135380 w 1174498"/>
                <a:gd name="connsiteY11" fmla="*/ 478155 h 552450"/>
                <a:gd name="connsiteX12" fmla="*/ 1174433 w 1174498"/>
                <a:gd name="connsiteY12" fmla="*/ 425768 h 552450"/>
                <a:gd name="connsiteX13" fmla="*/ 1174433 w 1174498"/>
                <a:gd name="connsiteY13" fmla="*/ 20003 h 552450"/>
                <a:gd name="connsiteX14" fmla="*/ 1155383 w 1174498"/>
                <a:gd name="connsiteY14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498" h="552450">
                  <a:moveTo>
                    <a:pt x="1155383" y="0"/>
                  </a:moveTo>
                  <a:lnTo>
                    <a:pt x="20003" y="0"/>
                  </a:lnTo>
                  <a:cubicBezTo>
                    <a:pt x="9525" y="0"/>
                    <a:pt x="0" y="8572"/>
                    <a:pt x="0" y="20003"/>
                  </a:cubicBezTo>
                  <a:lnTo>
                    <a:pt x="0" y="425768"/>
                  </a:lnTo>
                  <a:cubicBezTo>
                    <a:pt x="0" y="450532"/>
                    <a:pt x="16193" y="471488"/>
                    <a:pt x="39053" y="478155"/>
                  </a:cubicBezTo>
                  <a:cubicBezTo>
                    <a:pt x="115253" y="500063"/>
                    <a:pt x="297180" y="543878"/>
                    <a:pt x="528638" y="551498"/>
                  </a:cubicBezTo>
                  <a:lnTo>
                    <a:pt x="528638" y="520065"/>
                  </a:lnTo>
                  <a:cubicBezTo>
                    <a:pt x="528638" y="488632"/>
                    <a:pt x="554355" y="461963"/>
                    <a:pt x="586740" y="461963"/>
                  </a:cubicBezTo>
                  <a:cubicBezTo>
                    <a:pt x="602933" y="461963"/>
                    <a:pt x="617220" y="468630"/>
                    <a:pt x="627698" y="479107"/>
                  </a:cubicBezTo>
                  <a:cubicBezTo>
                    <a:pt x="638175" y="489585"/>
                    <a:pt x="644843" y="503873"/>
                    <a:pt x="644843" y="520065"/>
                  </a:cubicBezTo>
                  <a:lnTo>
                    <a:pt x="644843" y="552450"/>
                  </a:lnTo>
                  <a:cubicBezTo>
                    <a:pt x="797243" y="549593"/>
                    <a:pt x="964883" y="529590"/>
                    <a:pt x="1135380" y="478155"/>
                  </a:cubicBezTo>
                  <a:cubicBezTo>
                    <a:pt x="1158240" y="471488"/>
                    <a:pt x="1174433" y="449580"/>
                    <a:pt x="1174433" y="425768"/>
                  </a:cubicBezTo>
                  <a:lnTo>
                    <a:pt x="1174433" y="20003"/>
                  </a:lnTo>
                  <a:cubicBezTo>
                    <a:pt x="1175385" y="8572"/>
                    <a:pt x="1165860" y="0"/>
                    <a:pt x="115538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Остальные команды: </a:t>
            </a:r>
            <a:r>
              <a:rPr lang="en-US" dirty="0">
                <a:solidFill>
                  <a:srgbClr val="FF0000"/>
                </a:solidFill>
              </a:rPr>
              <a:t>ORDER BY, LIMIT, OFFSET</a:t>
            </a:r>
            <a:endParaRPr lang="ru-RS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Разберемся как нам упорядочить данные и не выводить лишнее.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178068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87C2E3-CC98-0D0E-CC2D-1140A9662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7550" y="3448718"/>
            <a:ext cx="9330633" cy="2575564"/>
          </a:xfrm>
        </p:spPr>
        <p:txBody>
          <a:bodyPr>
            <a:noAutofit/>
          </a:bodyPr>
          <a:lstStyle/>
          <a:p>
            <a:r>
              <a:rPr lang="ru-RU" dirty="0"/>
              <a:t>1.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ru-RU" dirty="0"/>
              <a:t> - определяет источник данных</a:t>
            </a:r>
          </a:p>
          <a:p>
            <a:r>
              <a:rPr lang="ru-RU" dirty="0"/>
              <a:t>2.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ru-RU" dirty="0"/>
              <a:t> - фильтрует строки</a:t>
            </a:r>
          </a:p>
          <a:p>
            <a:r>
              <a:rPr lang="ru-RU" dirty="0"/>
              <a:t>3.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ru-RU" dirty="0"/>
              <a:t>- группирует данные (если есть)</a:t>
            </a:r>
          </a:p>
          <a:p>
            <a:r>
              <a:rPr lang="ru-RU" dirty="0"/>
              <a:t>4.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ru-RU" dirty="0"/>
              <a:t> - фильтрует группы (если есть)</a:t>
            </a:r>
          </a:p>
          <a:p>
            <a:r>
              <a:rPr lang="ru-RU" dirty="0"/>
              <a:t>5.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ru-RU" dirty="0"/>
              <a:t> - выбирает столбцы</a:t>
            </a:r>
          </a:p>
          <a:p>
            <a:r>
              <a:rPr lang="ru-RU" dirty="0"/>
              <a:t>6.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ru-RU" dirty="0"/>
              <a:t>- сортирует результаты</a:t>
            </a:r>
          </a:p>
          <a:p>
            <a:r>
              <a:rPr lang="ru-RU" dirty="0"/>
              <a:t>7.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LIMIT/OFFSET </a:t>
            </a:r>
            <a:r>
              <a:rPr lang="ru-RU" dirty="0"/>
              <a:t>- ограничивает количество строк</a:t>
            </a:r>
            <a:endParaRPr lang="ru-R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0AA7C9F-0DB8-9F70-AFC9-C446531959D2}"/>
              </a:ext>
            </a:extLst>
          </p:cNvPr>
          <p:cNvSpPr/>
          <p:nvPr/>
        </p:nvSpPr>
        <p:spPr>
          <a:xfrm>
            <a:off x="390684" y="3448718"/>
            <a:ext cx="670560" cy="670560"/>
          </a:xfrm>
          <a:prstGeom prst="ellipse">
            <a:avLst/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grpSp>
        <p:nvGrpSpPr>
          <p:cNvPr id="11" name="Рисунок 22">
            <a:extLst>
              <a:ext uri="{FF2B5EF4-FFF2-40B4-BE49-F238E27FC236}">
                <a16:creationId xmlns:a16="http://schemas.microsoft.com/office/drawing/2014/main" id="{BD20FFE4-E30F-B7B0-B710-209DD091F471}"/>
              </a:ext>
            </a:extLst>
          </p:cNvPr>
          <p:cNvGrpSpPr/>
          <p:nvPr/>
        </p:nvGrpSpPr>
        <p:grpSpPr>
          <a:xfrm>
            <a:off x="547757" y="3602946"/>
            <a:ext cx="345418" cy="326630"/>
            <a:chOff x="5528877" y="4553325"/>
            <a:chExt cx="1174498" cy="1110615"/>
          </a:xfrm>
          <a:solidFill>
            <a:srgbClr val="FFF654"/>
          </a:solidFill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F81F9A2-9A12-EE7A-9C10-67FB9CDE6114}"/>
                </a:ext>
              </a:extLst>
            </p:cNvPr>
            <p:cNvSpPr/>
            <p:nvPr/>
          </p:nvSpPr>
          <p:spPr>
            <a:xfrm>
              <a:off x="5897495" y="4553325"/>
              <a:ext cx="438150" cy="163829"/>
            </a:xfrm>
            <a:custGeom>
              <a:avLst/>
              <a:gdLst>
                <a:gd name="connsiteX0" fmla="*/ 80010 w 438150"/>
                <a:gd name="connsiteY0" fmla="*/ 97155 h 163829"/>
                <a:gd name="connsiteX1" fmla="*/ 81915 w 438150"/>
                <a:gd name="connsiteY1" fmla="*/ 95250 h 163829"/>
                <a:gd name="connsiteX2" fmla="*/ 356235 w 438150"/>
                <a:gd name="connsiteY2" fmla="*/ 95250 h 163829"/>
                <a:gd name="connsiteX3" fmla="*/ 358140 w 438150"/>
                <a:gd name="connsiteY3" fmla="*/ 97155 h 163829"/>
                <a:gd name="connsiteX4" fmla="*/ 358140 w 438150"/>
                <a:gd name="connsiteY4" fmla="*/ 163830 h 163829"/>
                <a:gd name="connsiteX5" fmla="*/ 438150 w 438150"/>
                <a:gd name="connsiteY5" fmla="*/ 163830 h 163829"/>
                <a:gd name="connsiteX6" fmla="*/ 438150 w 438150"/>
                <a:gd name="connsiteY6" fmla="*/ 37148 h 163829"/>
                <a:gd name="connsiteX7" fmla="*/ 415290 w 438150"/>
                <a:gd name="connsiteY7" fmla="*/ 14288 h 163829"/>
                <a:gd name="connsiteX8" fmla="*/ 20955 w 438150"/>
                <a:gd name="connsiteY8" fmla="*/ 14288 h 163829"/>
                <a:gd name="connsiteX9" fmla="*/ 0 w 438150"/>
                <a:gd name="connsiteY9" fmla="*/ 37148 h 163829"/>
                <a:gd name="connsiteX10" fmla="*/ 0 w 438150"/>
                <a:gd name="connsiteY10" fmla="*/ 163830 h 163829"/>
                <a:gd name="connsiteX11" fmla="*/ 80963 w 438150"/>
                <a:gd name="connsiteY11" fmla="*/ 163830 h 163829"/>
                <a:gd name="connsiteX12" fmla="*/ 80963 w 438150"/>
                <a:gd name="connsiteY12" fmla="*/ 9715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8150" h="163829">
                  <a:moveTo>
                    <a:pt x="80010" y="97155"/>
                  </a:moveTo>
                  <a:cubicBezTo>
                    <a:pt x="80010" y="96203"/>
                    <a:pt x="80963" y="95250"/>
                    <a:pt x="81915" y="95250"/>
                  </a:cubicBezTo>
                  <a:lnTo>
                    <a:pt x="356235" y="95250"/>
                  </a:lnTo>
                  <a:cubicBezTo>
                    <a:pt x="357188" y="95250"/>
                    <a:pt x="358140" y="96203"/>
                    <a:pt x="358140" y="97155"/>
                  </a:cubicBezTo>
                  <a:lnTo>
                    <a:pt x="358140" y="163830"/>
                  </a:lnTo>
                  <a:lnTo>
                    <a:pt x="438150" y="163830"/>
                  </a:lnTo>
                  <a:lnTo>
                    <a:pt x="438150" y="37148"/>
                  </a:lnTo>
                  <a:cubicBezTo>
                    <a:pt x="438150" y="24765"/>
                    <a:pt x="427673" y="14288"/>
                    <a:pt x="415290" y="14288"/>
                  </a:cubicBezTo>
                  <a:cubicBezTo>
                    <a:pt x="283845" y="-4763"/>
                    <a:pt x="152400" y="-4763"/>
                    <a:pt x="20955" y="14288"/>
                  </a:cubicBezTo>
                  <a:cubicBezTo>
                    <a:pt x="9525" y="14288"/>
                    <a:pt x="0" y="24765"/>
                    <a:pt x="0" y="37148"/>
                  </a:cubicBezTo>
                  <a:lnTo>
                    <a:pt x="0" y="163830"/>
                  </a:lnTo>
                  <a:lnTo>
                    <a:pt x="80963" y="163830"/>
                  </a:lnTo>
                  <a:lnTo>
                    <a:pt x="80963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3BB6EA9-F89B-2378-905C-2B6E3604CF24}"/>
                </a:ext>
              </a:extLst>
            </p:cNvPr>
            <p:cNvSpPr/>
            <p:nvPr/>
          </p:nvSpPr>
          <p:spPr>
            <a:xfrm>
              <a:off x="5553642" y="5301990"/>
              <a:ext cx="1126807" cy="361950"/>
            </a:xfrm>
            <a:custGeom>
              <a:avLst/>
              <a:gdLst>
                <a:gd name="connsiteX0" fmla="*/ 0 w 1126807"/>
                <a:gd name="connsiteY0" fmla="*/ 0 h 361950"/>
                <a:gd name="connsiteX1" fmla="*/ 0 w 1126807"/>
                <a:gd name="connsiteY1" fmla="*/ 340042 h 361950"/>
                <a:gd name="connsiteX2" fmla="*/ 22860 w 1126807"/>
                <a:gd name="connsiteY2" fmla="*/ 361950 h 361950"/>
                <a:gd name="connsiteX3" fmla="*/ 1103948 w 1126807"/>
                <a:gd name="connsiteY3" fmla="*/ 361950 h 361950"/>
                <a:gd name="connsiteX4" fmla="*/ 1126808 w 1126807"/>
                <a:gd name="connsiteY4" fmla="*/ 340042 h 361950"/>
                <a:gd name="connsiteX5" fmla="*/ 1126808 w 1126807"/>
                <a:gd name="connsiteY5" fmla="*/ 952 h 361950"/>
                <a:gd name="connsiteX6" fmla="*/ 580073 w 1126807"/>
                <a:gd name="connsiteY6" fmla="*/ 77152 h 361950"/>
                <a:gd name="connsiteX7" fmla="*/ 0 w 1126807"/>
                <a:gd name="connsiteY7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6807" h="361950">
                  <a:moveTo>
                    <a:pt x="0" y="0"/>
                  </a:moveTo>
                  <a:lnTo>
                    <a:pt x="0" y="340042"/>
                  </a:lnTo>
                  <a:cubicBezTo>
                    <a:pt x="0" y="352425"/>
                    <a:pt x="10477" y="361950"/>
                    <a:pt x="22860" y="361950"/>
                  </a:cubicBezTo>
                  <a:lnTo>
                    <a:pt x="1103948" y="361950"/>
                  </a:lnTo>
                  <a:cubicBezTo>
                    <a:pt x="1116330" y="361950"/>
                    <a:pt x="1126808" y="352425"/>
                    <a:pt x="1126808" y="340042"/>
                  </a:cubicBezTo>
                  <a:lnTo>
                    <a:pt x="1126808" y="952"/>
                  </a:lnTo>
                  <a:cubicBezTo>
                    <a:pt x="935355" y="57150"/>
                    <a:pt x="746760" y="77152"/>
                    <a:pt x="580073" y="77152"/>
                  </a:cubicBezTo>
                  <a:cubicBezTo>
                    <a:pt x="304800" y="77152"/>
                    <a:pt x="85725" y="2476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C78349F9-8D88-7D18-EFE3-127749000F29}"/>
                </a:ext>
              </a:extLst>
            </p:cNvPr>
            <p:cNvSpPr/>
            <p:nvPr/>
          </p:nvSpPr>
          <p:spPr>
            <a:xfrm>
              <a:off x="5528877" y="4760017"/>
              <a:ext cx="1174498" cy="552450"/>
            </a:xfrm>
            <a:custGeom>
              <a:avLst/>
              <a:gdLst>
                <a:gd name="connsiteX0" fmla="*/ 1155383 w 1174498"/>
                <a:gd name="connsiteY0" fmla="*/ 0 h 552450"/>
                <a:gd name="connsiteX1" fmla="*/ 20003 w 1174498"/>
                <a:gd name="connsiteY1" fmla="*/ 0 h 552450"/>
                <a:gd name="connsiteX2" fmla="*/ 0 w 1174498"/>
                <a:gd name="connsiteY2" fmla="*/ 20003 h 552450"/>
                <a:gd name="connsiteX3" fmla="*/ 0 w 1174498"/>
                <a:gd name="connsiteY3" fmla="*/ 425768 h 552450"/>
                <a:gd name="connsiteX4" fmla="*/ 39053 w 1174498"/>
                <a:gd name="connsiteY4" fmla="*/ 478155 h 552450"/>
                <a:gd name="connsiteX5" fmla="*/ 528638 w 1174498"/>
                <a:gd name="connsiteY5" fmla="*/ 551498 h 552450"/>
                <a:gd name="connsiteX6" fmla="*/ 528638 w 1174498"/>
                <a:gd name="connsiteY6" fmla="*/ 520065 h 552450"/>
                <a:gd name="connsiteX7" fmla="*/ 586740 w 1174498"/>
                <a:gd name="connsiteY7" fmla="*/ 461963 h 552450"/>
                <a:gd name="connsiteX8" fmla="*/ 627698 w 1174498"/>
                <a:gd name="connsiteY8" fmla="*/ 479107 h 552450"/>
                <a:gd name="connsiteX9" fmla="*/ 644843 w 1174498"/>
                <a:gd name="connsiteY9" fmla="*/ 520065 h 552450"/>
                <a:gd name="connsiteX10" fmla="*/ 644843 w 1174498"/>
                <a:gd name="connsiteY10" fmla="*/ 552450 h 552450"/>
                <a:gd name="connsiteX11" fmla="*/ 1135380 w 1174498"/>
                <a:gd name="connsiteY11" fmla="*/ 478155 h 552450"/>
                <a:gd name="connsiteX12" fmla="*/ 1174433 w 1174498"/>
                <a:gd name="connsiteY12" fmla="*/ 425768 h 552450"/>
                <a:gd name="connsiteX13" fmla="*/ 1174433 w 1174498"/>
                <a:gd name="connsiteY13" fmla="*/ 20003 h 552450"/>
                <a:gd name="connsiteX14" fmla="*/ 1155383 w 1174498"/>
                <a:gd name="connsiteY14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498" h="552450">
                  <a:moveTo>
                    <a:pt x="1155383" y="0"/>
                  </a:moveTo>
                  <a:lnTo>
                    <a:pt x="20003" y="0"/>
                  </a:lnTo>
                  <a:cubicBezTo>
                    <a:pt x="9525" y="0"/>
                    <a:pt x="0" y="8572"/>
                    <a:pt x="0" y="20003"/>
                  </a:cubicBezTo>
                  <a:lnTo>
                    <a:pt x="0" y="425768"/>
                  </a:lnTo>
                  <a:cubicBezTo>
                    <a:pt x="0" y="450532"/>
                    <a:pt x="16193" y="471488"/>
                    <a:pt x="39053" y="478155"/>
                  </a:cubicBezTo>
                  <a:cubicBezTo>
                    <a:pt x="115253" y="500063"/>
                    <a:pt x="297180" y="543878"/>
                    <a:pt x="528638" y="551498"/>
                  </a:cubicBezTo>
                  <a:lnTo>
                    <a:pt x="528638" y="520065"/>
                  </a:lnTo>
                  <a:cubicBezTo>
                    <a:pt x="528638" y="488632"/>
                    <a:pt x="554355" y="461963"/>
                    <a:pt x="586740" y="461963"/>
                  </a:cubicBezTo>
                  <a:cubicBezTo>
                    <a:pt x="602933" y="461963"/>
                    <a:pt x="617220" y="468630"/>
                    <a:pt x="627698" y="479107"/>
                  </a:cubicBezTo>
                  <a:cubicBezTo>
                    <a:pt x="638175" y="489585"/>
                    <a:pt x="644843" y="503873"/>
                    <a:pt x="644843" y="520065"/>
                  </a:cubicBezTo>
                  <a:lnTo>
                    <a:pt x="644843" y="552450"/>
                  </a:lnTo>
                  <a:cubicBezTo>
                    <a:pt x="797243" y="549593"/>
                    <a:pt x="964883" y="529590"/>
                    <a:pt x="1135380" y="478155"/>
                  </a:cubicBezTo>
                  <a:cubicBezTo>
                    <a:pt x="1158240" y="471488"/>
                    <a:pt x="1174433" y="449580"/>
                    <a:pt x="1174433" y="425768"/>
                  </a:cubicBezTo>
                  <a:lnTo>
                    <a:pt x="1174433" y="20003"/>
                  </a:lnTo>
                  <a:cubicBezTo>
                    <a:pt x="1175385" y="8572"/>
                    <a:pt x="1165860" y="0"/>
                    <a:pt x="115538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Порядок выполнения </a:t>
            </a:r>
            <a:r>
              <a:rPr lang="ru-RU" dirty="0">
                <a:solidFill>
                  <a:srgbClr val="FF0000"/>
                </a:solidFill>
              </a:rPr>
              <a:t>команд запроса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У всего есть свой порядок, </a:t>
            </a:r>
            <a:r>
              <a:rPr lang="en-US" dirty="0"/>
              <a:t>SQL </a:t>
            </a:r>
            <a:r>
              <a:rPr lang="ru-RU" dirty="0"/>
              <a:t>не исключение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159180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513</Words>
  <Application>Microsoft Macintosh PowerPoint</Application>
  <PresentationFormat>Широкоэкранный</PresentationFormat>
  <Paragraphs>83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22</cp:revision>
  <dcterms:created xsi:type="dcterms:W3CDTF">2025-08-19T06:56:36Z</dcterms:created>
  <dcterms:modified xsi:type="dcterms:W3CDTF">2026-09-10T07:10:19Z</dcterms:modified>
</cp:coreProperties>
</file>