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312" r:id="rId3"/>
    <p:sldId id="364" r:id="rId4"/>
    <p:sldId id="366" r:id="rId5"/>
    <p:sldId id="368" r:id="rId6"/>
    <p:sldId id="309" r:id="rId7"/>
    <p:sldId id="369" r:id="rId8"/>
    <p:sldId id="34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21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C5B05954-ADE9-F8D2-1402-05D4228D5BA5}"/>
              </a:ext>
            </a:extLst>
          </p:cNvPr>
          <p:cNvSpPr/>
          <p:nvPr userDrawn="1"/>
        </p:nvSpPr>
        <p:spPr>
          <a:xfrm>
            <a:off x="6308567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57701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2F2CC53-9CF8-8C15-2005-CBAF4DD74E40}"/>
              </a:ext>
            </a:extLst>
          </p:cNvPr>
          <p:cNvSpPr/>
          <p:nvPr userDrawn="1"/>
        </p:nvSpPr>
        <p:spPr>
          <a:xfrm>
            <a:off x="11149965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15" name="Текст 49">
            <a:extLst>
              <a:ext uri="{FF2B5EF4-FFF2-40B4-BE49-F238E27FC236}">
                <a16:creationId xmlns:a16="http://schemas.microsoft.com/office/drawing/2014/main" id="{3C098731-4900-EEAE-A0DE-7E1FA6D1EB6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557701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AE58351-2F18-2F8E-D3C4-7B2FAC9DB44B}"/>
              </a:ext>
            </a:extLst>
          </p:cNvPr>
          <p:cNvSpPr/>
          <p:nvPr userDrawn="1"/>
        </p:nvSpPr>
        <p:spPr>
          <a:xfrm>
            <a:off x="381561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36" name="Текст 49">
            <a:extLst>
              <a:ext uri="{FF2B5EF4-FFF2-40B4-BE49-F238E27FC236}">
                <a16:creationId xmlns:a16="http://schemas.microsoft.com/office/drawing/2014/main" id="{29BEC1B6-2A87-9C1E-11E1-B024A88DC4A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30695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F8C1A5A9-18AC-47F2-B9FF-458324400456}"/>
              </a:ext>
            </a:extLst>
          </p:cNvPr>
          <p:cNvSpPr/>
          <p:nvPr userDrawn="1"/>
        </p:nvSpPr>
        <p:spPr>
          <a:xfrm>
            <a:off x="5222959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0" name="Текст 49">
            <a:extLst>
              <a:ext uri="{FF2B5EF4-FFF2-40B4-BE49-F238E27FC236}">
                <a16:creationId xmlns:a16="http://schemas.microsoft.com/office/drawing/2014/main" id="{09EDF421-4786-F27F-D421-4F6F76E3D7F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30695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24377A-3A62-E490-EA1E-ABDEAA77012D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79E22D-0B37-D7E0-4324-60CA7A969605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B5FC86D-82C4-7452-6AEE-B6009692D4F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150283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C5558111-5D92-CBC2-140A-A52A7C89FF4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12062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B706BABA-D911-0475-C385-C5E80501CF18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048ABD2A-F0AE-506F-BAD8-1B97F314D56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9A422709-24F0-78EA-337F-28F2C9E7C04F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4398F6A-F4A3-AA13-BD57-C1C8EB129644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9EA2CF7-E426-6FA4-1586-2DA7D0B2C2AE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9C5A4B-0A59-C72C-6B13-40B77DDFE6CE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05F6695F-4435-AC1F-EDFD-37951B12BD21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BC434FB-16BA-9077-D2B0-AE75E731B43E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52FDA3D7-0F1D-0F9E-FA83-0B30310C1F90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8027AB9B-F1F7-ABDD-3BD7-D7F59809FD97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A184EB10-7F97-7A9E-B27B-254F1C42DFA2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18AED02-3F30-8086-D3FE-F4B5FA1B87FE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53DE7102-3EE6-3BF1-617F-C94638783E8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7" name="Текст 47">
            <a:extLst>
              <a:ext uri="{FF2B5EF4-FFF2-40B4-BE49-F238E27FC236}">
                <a16:creationId xmlns:a16="http://schemas.microsoft.com/office/drawing/2014/main" id="{029659CF-2E80-2A2F-6532-5B5D4E2188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8" name="Текст 49">
            <a:extLst>
              <a:ext uri="{FF2B5EF4-FFF2-40B4-BE49-F238E27FC236}">
                <a16:creationId xmlns:a16="http://schemas.microsoft.com/office/drawing/2014/main" id="{35B448D5-CA83-7334-D9E8-31596C010B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415544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7550" y="3448718"/>
            <a:ext cx="4361039" cy="22254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lvl="0"/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17" name="Текст 49">
            <a:extLst>
              <a:ext uri="{FF2B5EF4-FFF2-40B4-BE49-F238E27FC236}">
                <a16:creationId xmlns:a16="http://schemas.microsoft.com/office/drawing/2014/main" id="{5571E40E-E04B-FA9F-068F-44BCFEB22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4083" y="3448718"/>
            <a:ext cx="4361039" cy="2225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A037DA-9FAF-515A-92C7-E19877702939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05145-B248-C94C-DC68-7B12E4D5D5ED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13118D-C903-A2FB-4AA2-92B99E8034A5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26FE57E-5F3A-70FD-024C-5D5363954F8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203755BE-9D0C-5152-C51C-292980F48F8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B02685DE-BDA2-A180-AAC2-6A6336D91829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3B440F1A-2B1A-0363-DE61-8411E5061A02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FDE4094F-F928-F071-8EDE-5D61EE96D59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20549A1D-AFEA-BFB4-CBEF-DA44D0E3CF1E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DA97E0D-A6F3-4ED7-6F4A-D4835EC2550A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03F2F32-0455-BFBD-5B52-6B8136951CE7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04CF4E74-47F0-5D04-6365-C78E6667D4C0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38266A2-C1C1-F2A0-0C99-88B218EC144E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2F14325-A2F1-946E-4889-E1B6174A17A2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6" name="Текст 47">
            <a:extLst>
              <a:ext uri="{FF2B5EF4-FFF2-40B4-BE49-F238E27FC236}">
                <a16:creationId xmlns:a16="http://schemas.microsoft.com/office/drawing/2014/main" id="{D7B98EE6-1D14-A7E1-223F-07278DB232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18" name="Текст 49">
            <a:extLst>
              <a:ext uri="{FF2B5EF4-FFF2-40B4-BE49-F238E27FC236}">
                <a16:creationId xmlns:a16="http://schemas.microsoft.com/office/drawing/2014/main" id="{E8E5E985-7059-1829-0725-4DF8618F9F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49A614C0-E14F-24D2-0261-44052F7F65A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2800444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4" r:id="rId13"/>
    <p:sldLayoutId id="2147483666" r:id="rId14"/>
    <p:sldLayoutId id="214748366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16" y="5483591"/>
            <a:ext cx="981784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Программирование на </a:t>
            </a:r>
            <a:r>
              <a:rPr lang="ru-RU" dirty="0"/>
              <a:t>языке </a:t>
            </a:r>
            <a:r>
              <a:rPr lang="en-US" dirty="0"/>
              <a:t>SQL</a:t>
            </a:r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6" y="2054431"/>
            <a:ext cx="8054404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Временные таблицы и </a:t>
            </a:r>
            <a:r>
              <a:rPr lang="en-US" dirty="0"/>
              <a:t>CTE</a:t>
            </a:r>
            <a:endParaRPr lang="ru-RS" dirty="0"/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26084C87-6441-49C2-9768-69B924992F0E}"/>
              </a:ext>
            </a:extLst>
          </p:cNvPr>
          <p:cNvSpPr txBox="1">
            <a:spLocks/>
          </p:cNvSpPr>
          <p:nvPr/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S" dirty="0"/>
              <a:t>09/07/2025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Главный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">
            <a:extLst>
              <a:ext uri="{FF2B5EF4-FFF2-40B4-BE49-F238E27FC236}">
                <a16:creationId xmlns:a16="http://schemas.microsoft.com/office/drawing/2014/main" id="{52515E32-1DB7-14E1-F814-CEB436C2899C}"/>
              </a:ext>
            </a:extLst>
          </p:cNvPr>
          <p:cNvSpPr txBox="1">
            <a:spLocks/>
          </p:cNvSpPr>
          <p:nvPr/>
        </p:nvSpPr>
        <p:spPr>
          <a:xfrm>
            <a:off x="556771" y="3774963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ru-RU" dirty="0"/>
          </a:p>
          <a:p>
            <a:r>
              <a:rPr lang="ru-RU" dirty="0"/>
              <a:t>✅ Хранение результатов промежуточных запросов.</a:t>
            </a:r>
          </a:p>
          <a:p>
            <a:r>
              <a:rPr lang="ru-RU" dirty="0"/>
              <a:t>✅ Оптимизация запросов.</a:t>
            </a:r>
          </a:p>
          <a:p>
            <a:r>
              <a:rPr lang="ru-RU" dirty="0"/>
              <a:t>✅ Тестирование и отладка запросов.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C8405B7-E02D-9A2E-0E4D-41516C718F08}"/>
              </a:ext>
            </a:extLst>
          </p:cNvPr>
          <p:cNvSpPr txBox="1">
            <a:spLocks/>
          </p:cNvSpPr>
          <p:nvPr/>
        </p:nvSpPr>
        <p:spPr>
          <a:xfrm>
            <a:off x="556771" y="3507094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Зачем нужны временные таблицы?</a:t>
            </a:r>
            <a:endParaRPr lang="ru-RS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CD38B59-45C4-2FE0-1FDD-B643FDE86D85}"/>
              </a:ext>
            </a:extLst>
          </p:cNvPr>
          <p:cNvSpPr txBox="1">
            <a:spLocks/>
          </p:cNvSpPr>
          <p:nvPr/>
        </p:nvSpPr>
        <p:spPr>
          <a:xfrm>
            <a:off x="6542551" y="3965492"/>
            <a:ext cx="4940814" cy="1900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- Существуют только в рамках текущей сессии</a:t>
            </a:r>
          </a:p>
          <a:p>
            <a:r>
              <a:rPr lang="ru-RU" dirty="0"/>
              <a:t>- Не видны другим пользователям/сессиям</a:t>
            </a:r>
          </a:p>
          <a:p>
            <a:r>
              <a:rPr lang="ru-RU" dirty="0"/>
              <a:t>- Могут иметь индексы, ограничения и т.д. как обычные таблицы</a:t>
            </a:r>
            <a:endParaRPr lang="ru-RS" dirty="0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226D868-9FB7-7E39-8F74-5A16EA43DF73}"/>
              </a:ext>
            </a:extLst>
          </p:cNvPr>
          <p:cNvSpPr txBox="1">
            <a:spLocks/>
          </p:cNvSpPr>
          <p:nvPr/>
        </p:nvSpPr>
        <p:spPr>
          <a:xfrm>
            <a:off x="6552103" y="3475365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Какие особенности имеют?</a:t>
            </a:r>
            <a:endParaRPr lang="ru-RS" dirty="0"/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95F6E4E8-89AF-408A-8F4E-41E49081FA60}"/>
              </a:ext>
            </a:extLst>
          </p:cNvPr>
          <p:cNvSpPr/>
          <p:nvPr/>
        </p:nvSpPr>
        <p:spPr>
          <a:xfrm>
            <a:off x="11315297" y="5719577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rgbClr val="FFF654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3F7880-FFEA-0045-DBE3-933C17EC63F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7EF86DF-4AFD-7611-C187-D42F0DCB2CC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ru-RU" dirty="0">
                <a:solidFill>
                  <a:srgbClr val="FF0000"/>
                </a:solidFill>
              </a:rPr>
              <a:t>временные таблицы?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C0516869-352F-4CA6-A83A-2AC3AFB85CD4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967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Временные таблицы</a:t>
            </a:r>
            <a:r>
              <a:rPr lang="ru-RU" dirty="0"/>
              <a:t> - это таблицы, которые существуют только в течение сеанса работы с базой данных. Они автоматически удаляются при завершении сеанса.</a:t>
            </a:r>
            <a:endParaRPr lang="ru-RS" dirty="0"/>
          </a:p>
        </p:txBody>
      </p:sp>
      <p:sp>
        <p:nvSpPr>
          <p:cNvPr id="18" name="Полилиния 16">
            <a:extLst>
              <a:ext uri="{FF2B5EF4-FFF2-40B4-BE49-F238E27FC236}">
                <a16:creationId xmlns:a16="http://schemas.microsoft.com/office/drawing/2014/main" id="{5AC999CB-5538-48C5-BCB9-C35068D958A1}"/>
              </a:ext>
            </a:extLst>
          </p:cNvPr>
          <p:cNvSpPr/>
          <p:nvPr/>
        </p:nvSpPr>
        <p:spPr>
          <a:xfrm>
            <a:off x="5375956" y="5719576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chemeClr val="bg1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80757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6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Как создать </a:t>
            </a:r>
            <a:r>
              <a:rPr lang="ru-RU" dirty="0">
                <a:solidFill>
                  <a:srgbClr val="FF0000"/>
                </a:solidFill>
              </a:rPr>
              <a:t>временную таблицу?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CCE4F29-00AA-4DEF-8B75-30082ACC75E8}"/>
              </a:ext>
            </a:extLst>
          </p:cNvPr>
          <p:cNvSpPr txBox="1">
            <a:spLocks/>
          </p:cNvSpPr>
          <p:nvPr/>
        </p:nvSpPr>
        <p:spPr>
          <a:xfrm>
            <a:off x="371475" y="1925026"/>
            <a:ext cx="10569876" cy="601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Пример для </a:t>
            </a:r>
            <a:r>
              <a:rPr lang="en-US" dirty="0">
                <a:solidFill>
                  <a:srgbClr val="FF0000"/>
                </a:solidFill>
              </a:rPr>
              <a:t>PostgreSQL: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520905"/>
            <a:ext cx="10316099" cy="1924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-- Вариант 1: </a:t>
            </a:r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00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TEMPORARY</a:t>
            </a:r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TABLE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00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TEMPORARY</a:t>
            </a:r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TABLE </a:t>
            </a:r>
            <a:r>
              <a:rPr lang="en-US" sz="20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temp_users</a:t>
            </a:r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id SERIAL PRIMARY KEY,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name VARCHAR(100),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email VARCHAR(100)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ru-R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3E00FE0F-3E7B-4A0E-BBAF-214821C8521B}"/>
              </a:ext>
            </a:extLst>
          </p:cNvPr>
          <p:cNvSpPr txBox="1">
            <a:spLocks/>
          </p:cNvSpPr>
          <p:nvPr/>
        </p:nvSpPr>
        <p:spPr>
          <a:xfrm>
            <a:off x="371475" y="4590426"/>
            <a:ext cx="10316099" cy="10837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-- </a:t>
            </a:r>
            <a:r>
              <a:rPr lang="ru-RU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Вариант 2: </a:t>
            </a:r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 TEMP TABLE (</a:t>
            </a:r>
            <a:r>
              <a:rPr lang="ru-RU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сокращенная форма)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00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TEMP</a:t>
            </a:r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TABLE </a:t>
            </a:r>
            <a:r>
              <a:rPr lang="en-US" sz="20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temp_orders</a:t>
            </a:r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AS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SELECT * FROM orders WHERE </a:t>
            </a:r>
            <a:r>
              <a:rPr lang="en-US" sz="20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order_date</a:t>
            </a:r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&gt; CURRENT_DATE - INTERVAL '30 days';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97C90730-0D95-405C-9D28-0E25E7877420}"/>
              </a:ext>
            </a:extLst>
          </p:cNvPr>
          <p:cNvSpPr txBox="1">
            <a:spLocks/>
          </p:cNvSpPr>
          <p:nvPr/>
        </p:nvSpPr>
        <p:spPr>
          <a:xfrm>
            <a:off x="371475" y="5738068"/>
            <a:ext cx="10316099" cy="9821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-- </a:t>
            </a:r>
            <a:r>
              <a:rPr lang="ru-RU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Вариант 3: </a:t>
            </a:r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SELECT INTO </a:t>
            </a:r>
            <a:r>
              <a:rPr lang="en-US" sz="200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TEMPORARY</a:t>
            </a:r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TABLE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SELECT * </a:t>
            </a:r>
            <a:r>
              <a:rPr lang="en-US" sz="200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INTO TEMP TABLE </a:t>
            </a:r>
            <a:r>
              <a:rPr lang="en-US" sz="200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temp_products</a:t>
            </a:r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products WHERE price &gt; 1000;</a:t>
            </a:r>
            <a:endParaRPr lang="ru-R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95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">
            <a:extLst>
              <a:ext uri="{FF2B5EF4-FFF2-40B4-BE49-F238E27FC236}">
                <a16:creationId xmlns:a16="http://schemas.microsoft.com/office/drawing/2014/main" id="{52515E32-1DB7-14E1-F814-CEB436C2899C}"/>
              </a:ext>
            </a:extLst>
          </p:cNvPr>
          <p:cNvSpPr txBox="1">
            <a:spLocks/>
          </p:cNvSpPr>
          <p:nvPr/>
        </p:nvSpPr>
        <p:spPr>
          <a:xfrm>
            <a:off x="556771" y="3774963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ru-RU" dirty="0"/>
          </a:p>
          <a:p>
            <a:r>
              <a:rPr lang="ru-RU" dirty="0"/>
              <a:t>✅ Улучшение читаемости кода.</a:t>
            </a:r>
          </a:p>
          <a:p>
            <a:r>
              <a:rPr lang="ru-RU" dirty="0"/>
              <a:t>✅ Оптимизация запросов.</a:t>
            </a:r>
          </a:p>
          <a:p>
            <a:r>
              <a:rPr lang="ru-RU" dirty="0"/>
              <a:t>✅ Организация рекурсии.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C8405B7-E02D-9A2E-0E4D-41516C718F08}"/>
              </a:ext>
            </a:extLst>
          </p:cNvPr>
          <p:cNvSpPr txBox="1">
            <a:spLocks/>
          </p:cNvSpPr>
          <p:nvPr/>
        </p:nvSpPr>
        <p:spPr>
          <a:xfrm>
            <a:off x="556771" y="3507094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Зачем нужны временные таблицы?</a:t>
            </a:r>
            <a:endParaRPr lang="ru-RS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CD38B59-45C4-2FE0-1FDD-B643FDE86D85}"/>
              </a:ext>
            </a:extLst>
          </p:cNvPr>
          <p:cNvSpPr txBox="1">
            <a:spLocks/>
          </p:cNvSpPr>
          <p:nvPr/>
        </p:nvSpPr>
        <p:spPr>
          <a:xfrm>
            <a:off x="6542551" y="3965492"/>
            <a:ext cx="4940814" cy="1900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- Существуют только в рамках одного запроса</a:t>
            </a:r>
          </a:p>
          <a:p>
            <a:r>
              <a:rPr lang="ru-RU" dirty="0"/>
              <a:t>- Могут быть рекурсивными</a:t>
            </a:r>
          </a:p>
          <a:p>
            <a:r>
              <a:rPr lang="ru-RU" dirty="0"/>
              <a:t>- Улучшают читаемость сложных запросов</a:t>
            </a:r>
          </a:p>
          <a:p>
            <a:r>
              <a:rPr lang="ru-RU" dirty="0"/>
              <a:t>- Могут ссылаться на предыдущие CTE в том же WITH-блоке</a:t>
            </a:r>
            <a:endParaRPr lang="ru-RS" dirty="0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226D868-9FB7-7E39-8F74-5A16EA43DF73}"/>
              </a:ext>
            </a:extLst>
          </p:cNvPr>
          <p:cNvSpPr txBox="1">
            <a:spLocks/>
          </p:cNvSpPr>
          <p:nvPr/>
        </p:nvSpPr>
        <p:spPr>
          <a:xfrm>
            <a:off x="6552103" y="3475365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Какие особенности имеют?</a:t>
            </a:r>
            <a:endParaRPr lang="ru-RS" dirty="0"/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95F6E4E8-89AF-408A-8F4E-41E49081FA60}"/>
              </a:ext>
            </a:extLst>
          </p:cNvPr>
          <p:cNvSpPr/>
          <p:nvPr/>
        </p:nvSpPr>
        <p:spPr>
          <a:xfrm>
            <a:off x="11315297" y="5719577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rgbClr val="FFF654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3F7880-FFEA-0045-DBE3-933C17EC63F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7EF86DF-4AFD-7611-C187-D42F0DCB2CC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en-US" dirty="0">
                <a:solidFill>
                  <a:srgbClr val="FF0000"/>
                </a:solidFill>
              </a:rPr>
              <a:t>CTE (Common Table Expressions)</a:t>
            </a:r>
            <a:r>
              <a:rPr lang="ru-RU" dirty="0">
                <a:solidFill>
                  <a:srgbClr val="FF0000"/>
                </a:solidFill>
              </a:rPr>
              <a:t>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C0516869-352F-4CA6-A83A-2AC3AFB85CD4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9676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CTE (общие табличные выражения) </a:t>
            </a:r>
            <a:r>
              <a:rPr lang="ru-RU" dirty="0"/>
              <a:t>- это временные результаты запроса, которые существуют только во время выполнения основного запроса. Определяются с помощью конструкции `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WITH ... AS</a:t>
            </a:r>
            <a:r>
              <a:rPr lang="ru-RU" dirty="0"/>
              <a:t>`.</a:t>
            </a:r>
            <a:endParaRPr lang="ru-RS" dirty="0"/>
          </a:p>
        </p:txBody>
      </p:sp>
      <p:sp>
        <p:nvSpPr>
          <p:cNvPr id="18" name="Полилиния 16">
            <a:extLst>
              <a:ext uri="{FF2B5EF4-FFF2-40B4-BE49-F238E27FC236}">
                <a16:creationId xmlns:a16="http://schemas.microsoft.com/office/drawing/2014/main" id="{5AC999CB-5538-48C5-BCB9-C35068D958A1}"/>
              </a:ext>
            </a:extLst>
          </p:cNvPr>
          <p:cNvSpPr/>
          <p:nvPr/>
        </p:nvSpPr>
        <p:spPr>
          <a:xfrm>
            <a:off x="5375956" y="5719576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chemeClr val="bg1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306259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6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Как создать </a:t>
            </a:r>
            <a:r>
              <a:rPr lang="ru-RU" dirty="0">
                <a:solidFill>
                  <a:srgbClr val="FF0000"/>
                </a:solidFill>
              </a:rPr>
              <a:t>СТЕ?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CCE4F29-00AA-4DEF-8B75-30082ACC75E8}"/>
              </a:ext>
            </a:extLst>
          </p:cNvPr>
          <p:cNvSpPr txBox="1">
            <a:spLocks/>
          </p:cNvSpPr>
          <p:nvPr/>
        </p:nvSpPr>
        <p:spPr>
          <a:xfrm>
            <a:off x="371475" y="1925026"/>
            <a:ext cx="10569876" cy="601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Создание СТЕ выглядит следующим образом</a:t>
            </a:r>
            <a:r>
              <a:rPr lang="en-US" dirty="0"/>
              <a:t>:</a:t>
            </a:r>
            <a:endParaRPr lang="ru-RS" dirty="0"/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520905"/>
            <a:ext cx="10316099" cy="407101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Синтаксис:</a:t>
            </a:r>
          </a:p>
          <a:p>
            <a:endParaRPr lang="ru-RU" sz="20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WITH </a:t>
            </a:r>
            <a:r>
              <a:rPr lang="en-US" sz="20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cte_name</a:t>
            </a:r>
            <a:r>
              <a:rPr lang="en-US" sz="200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SELECT columns FROM table WHERE condition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SELECT * FROM </a:t>
            </a:r>
            <a:r>
              <a:rPr lang="en-US" sz="20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cte_name</a:t>
            </a:r>
            <a:r>
              <a:rPr lang="en-US" sz="200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00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Пример: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посчитаем сколько покупок на сумму более 1000 рублей у каждого покупателя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WITH </a:t>
            </a:r>
          </a:p>
          <a:p>
            <a:r>
              <a:rPr lang="ru-RU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male_customers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AS (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customers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gender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ru-RU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high_value_orders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AS (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customer_id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transactions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.cheque_sum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&gt; 1000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.phone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, COUNT(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.id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male_customers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JOIN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high_value_orders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ON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.id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.customer_id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.phone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8676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Сводная таблица отличий </a:t>
            </a:r>
          </a:p>
          <a:p>
            <a:r>
              <a:rPr lang="ru-RU" dirty="0">
                <a:solidFill>
                  <a:srgbClr val="FF0000"/>
                </a:solidFill>
              </a:rPr>
              <a:t>временной таблицы и СТЕ</a:t>
            </a:r>
            <a:endParaRPr lang="ru-RS" dirty="0">
              <a:solidFill>
                <a:srgbClr val="FF0000"/>
              </a:solidFill>
            </a:endParaRPr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A5B2FA59-2B74-4245-8EEF-0898FD6CD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9192054"/>
              </p:ext>
            </p:extLst>
          </p:nvPr>
        </p:nvGraphicFramePr>
        <p:xfrm>
          <a:off x="260669" y="2265136"/>
          <a:ext cx="11324527" cy="3691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010">
                  <a:extLst>
                    <a:ext uri="{9D8B030D-6E8A-4147-A177-3AD203B41FA5}">
                      <a16:colId xmlns:a16="http://schemas.microsoft.com/office/drawing/2014/main" val="2391380390"/>
                    </a:ext>
                  </a:extLst>
                </a:gridCol>
                <a:gridCol w="4081073">
                  <a:extLst>
                    <a:ext uri="{9D8B030D-6E8A-4147-A177-3AD203B41FA5}">
                      <a16:colId xmlns:a16="http://schemas.microsoft.com/office/drawing/2014/main" val="2595770175"/>
                    </a:ext>
                  </a:extLst>
                </a:gridCol>
                <a:gridCol w="4538444">
                  <a:extLst>
                    <a:ext uri="{9D8B030D-6E8A-4147-A177-3AD203B41FA5}">
                      <a16:colId xmlns:a16="http://schemas.microsoft.com/office/drawing/2014/main" val="3830390640"/>
                    </a:ext>
                  </a:extLst>
                </a:gridCol>
              </a:tblGrid>
              <a:tr h="289177">
                <a:tc>
                  <a:txBody>
                    <a:bodyPr/>
                    <a:lstStyle/>
                    <a:p>
                      <a:r>
                        <a:rPr lang="ru-RU" b="1">
                          <a:solidFill>
                            <a:schemeClr val="bg1"/>
                          </a:solidFill>
                          <a:effectLst/>
                        </a:rPr>
                        <a:t>Характеристика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bg1"/>
                          </a:solidFill>
                          <a:effectLst/>
                        </a:rPr>
                        <a:t>Временные таблицы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CTE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332920"/>
                  </a:ext>
                </a:extLst>
              </a:tr>
              <a:tr h="289177"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Время жизни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Вся сессия/транзакция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Только во время выполнения запроса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141236"/>
                  </a:ext>
                </a:extLst>
              </a:tr>
              <a:tr h="493302"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Видимость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Можно использовать в нескольких запросах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Только в текущем запросе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414396"/>
                  </a:ext>
                </a:extLst>
              </a:tr>
              <a:tr h="289177"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Индексы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Можно создавать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Нельзя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622056"/>
                  </a:ext>
                </a:extLst>
              </a:tr>
              <a:tr h="493302"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Производительность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Хороша для многократного использования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Оптимизируется планировщиком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265502"/>
                  </a:ext>
                </a:extLst>
              </a:tr>
              <a:tr h="493302"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Читаемость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Менее удобна для сложных запросов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Улучшает читаемость сложных запросов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331611"/>
                  </a:ext>
                </a:extLst>
              </a:tr>
              <a:tr h="706051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Рекурсия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Не поддерживается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Поддерживается (в 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PostgreSQL)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27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991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">
            <a:extLst>
              <a:ext uri="{FF2B5EF4-FFF2-40B4-BE49-F238E27FC236}">
                <a16:creationId xmlns:a16="http://schemas.microsoft.com/office/drawing/2014/main" id="{52515E32-1DB7-14E1-F814-CEB436C2899C}"/>
              </a:ext>
            </a:extLst>
          </p:cNvPr>
          <p:cNvSpPr txBox="1">
            <a:spLocks/>
          </p:cNvSpPr>
          <p:nvPr/>
        </p:nvSpPr>
        <p:spPr>
          <a:xfrm>
            <a:off x="556771" y="3555014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ru-RU" dirty="0"/>
          </a:p>
          <a:p>
            <a:r>
              <a:rPr lang="ru-RU" dirty="0"/>
              <a:t>1. Когда промежуточные результаты используются многократно в разных запросах</a:t>
            </a:r>
          </a:p>
          <a:p>
            <a:r>
              <a:rPr lang="ru-RU" dirty="0"/>
              <a:t>2. Когда нужно создать индексы для ускорения обработки</a:t>
            </a:r>
          </a:p>
          <a:p>
            <a:r>
              <a:rPr lang="ru-RU" dirty="0"/>
              <a:t>3. Для сложных ETL-процессов с несколькими этапами</a:t>
            </a:r>
          </a:p>
          <a:p>
            <a:r>
              <a:rPr lang="ru-RU" dirty="0"/>
              <a:t>4. Когда данные нужны вне контекста одного запроса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C8405B7-E02D-9A2E-0E4D-41516C718F08}"/>
              </a:ext>
            </a:extLst>
          </p:cNvPr>
          <p:cNvSpPr txBox="1">
            <a:spLocks/>
          </p:cNvSpPr>
          <p:nvPr/>
        </p:nvSpPr>
        <p:spPr>
          <a:xfrm>
            <a:off x="556771" y="3507094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Временные </a:t>
            </a:r>
            <a:r>
              <a:rPr lang="ru-RU" dirty="0">
                <a:solidFill>
                  <a:srgbClr val="FF0000"/>
                </a:solidFill>
              </a:rPr>
              <a:t>таблицы: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CD38B59-45C4-2FE0-1FDD-B643FDE86D85}"/>
              </a:ext>
            </a:extLst>
          </p:cNvPr>
          <p:cNvSpPr txBox="1">
            <a:spLocks/>
          </p:cNvSpPr>
          <p:nvPr/>
        </p:nvSpPr>
        <p:spPr>
          <a:xfrm>
            <a:off x="6542551" y="3806692"/>
            <a:ext cx="4940814" cy="1900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1. Для улучшения читаемости сложных запросов</a:t>
            </a:r>
          </a:p>
          <a:p>
            <a:r>
              <a:rPr lang="ru-RU" dirty="0"/>
              <a:t>2. Когда нужны рекурсивные запросы (иерархии, графы)</a:t>
            </a:r>
          </a:p>
          <a:p>
            <a:r>
              <a:rPr lang="ru-RU" dirty="0"/>
              <a:t>3. Для разбиения сложного запроса на логические части</a:t>
            </a:r>
          </a:p>
          <a:p>
            <a:r>
              <a:rPr lang="ru-RU" dirty="0"/>
              <a:t>4. Когда промежуточные результаты используются только один раз</a:t>
            </a:r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226D868-9FB7-7E39-8F74-5A16EA43DF73}"/>
              </a:ext>
            </a:extLst>
          </p:cNvPr>
          <p:cNvSpPr txBox="1">
            <a:spLocks/>
          </p:cNvSpPr>
          <p:nvPr/>
        </p:nvSpPr>
        <p:spPr>
          <a:xfrm>
            <a:off x="6552103" y="3475365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Common table </a:t>
            </a:r>
            <a:r>
              <a:rPr lang="en-US" dirty="0">
                <a:solidFill>
                  <a:srgbClr val="FF0000"/>
                </a:solidFill>
              </a:rPr>
              <a:t>expressions</a:t>
            </a:r>
            <a:r>
              <a:rPr lang="ru-RU" dirty="0">
                <a:solidFill>
                  <a:srgbClr val="FF0000"/>
                </a:solidFill>
              </a:rPr>
              <a:t>: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95F6E4E8-89AF-408A-8F4E-41E49081FA60}"/>
              </a:ext>
            </a:extLst>
          </p:cNvPr>
          <p:cNvSpPr/>
          <p:nvPr/>
        </p:nvSpPr>
        <p:spPr>
          <a:xfrm>
            <a:off x="11315297" y="5719577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rgbClr val="FFF654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3F7880-FFEA-0045-DBE3-933C17EC63F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7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7EF86DF-4AFD-7611-C187-D42F0DCB2CC8}"/>
              </a:ext>
            </a:extLst>
          </p:cNvPr>
          <p:cNvSpPr txBox="1">
            <a:spLocks/>
          </p:cNvSpPr>
          <p:nvPr/>
        </p:nvSpPr>
        <p:spPr>
          <a:xfrm>
            <a:off x="316072" y="1810497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Когда и что </a:t>
            </a:r>
            <a:r>
              <a:rPr lang="ru-RU" dirty="0">
                <a:solidFill>
                  <a:srgbClr val="FF0000"/>
                </a:solidFill>
              </a:rPr>
              <a:t>использовать?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8" name="Полилиния 16">
            <a:extLst>
              <a:ext uri="{FF2B5EF4-FFF2-40B4-BE49-F238E27FC236}">
                <a16:creationId xmlns:a16="http://schemas.microsoft.com/office/drawing/2014/main" id="{5AC999CB-5538-48C5-BCB9-C35068D958A1}"/>
              </a:ext>
            </a:extLst>
          </p:cNvPr>
          <p:cNvSpPr/>
          <p:nvPr/>
        </p:nvSpPr>
        <p:spPr>
          <a:xfrm>
            <a:off x="5375956" y="5719576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chemeClr val="bg1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2721225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2160</TotalTime>
  <Words>572</Words>
  <Application>Microsoft Macintosh PowerPoint</Application>
  <PresentationFormat>Широкоэкранный</PresentationFormat>
  <Paragraphs>108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56</cp:revision>
  <dcterms:created xsi:type="dcterms:W3CDTF">2025-08-19T06:56:36Z</dcterms:created>
  <dcterms:modified xsi:type="dcterms:W3CDTF">2026-10-23T12:04:37Z</dcterms:modified>
</cp:coreProperties>
</file>